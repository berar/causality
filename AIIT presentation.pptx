
<file path=[Content_Types].xml><?xml version="1.0" encoding="utf-8"?>
<Types xmlns="http://schemas.openxmlformats.org/package/2006/content-types">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_rels/notesMaster1.xml.rels" ContentType="application/vnd.openxmlformats-package.relationships+xml"/>
  <Override PartName="/ppt/slideMasters/slideMaster1.xml" ContentType="application/vnd.openxmlformats-officedocument.presentationml.slideMaster+xml"/>
  <Override PartName="/ppt/slideMasters/_rels/slideMaster1.xml.rels" ContentType="application/vnd.openxmlformats-package.relationships+xml"/>
  <Override PartName="/ppt/notesSlides/notesSlide9.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_rels/notesSlide9.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media/image9.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3587"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body"/>
          </p:nvPr>
        </p:nvSpPr>
        <p:spPr>
          <a:xfrm>
            <a:off x="777240" y="4777560"/>
            <a:ext cx="6217560" cy="4525920"/>
          </a:xfrm>
          <a:prstGeom prst="rect">
            <a:avLst/>
          </a:prstGeom>
        </p:spPr>
        <p:txBody>
          <a:bodyPr lIns="0" rIns="0" tIns="0" bIns="0"/>
          <a:p>
            <a:r>
              <a:rPr b="0" lang="en-US" sz="2000" spc="-1" strike="noStrike">
                <a:solidFill>
                  <a:srgbClr val="000000"/>
                </a:solidFill>
                <a:uFill>
                  <a:solidFill>
                    <a:srgbClr val="ffffff"/>
                  </a:solidFill>
                </a:uFill>
                <a:latin typeface="Arial"/>
              </a:rPr>
              <a:t>Click to edit the notes format</a:t>
            </a:r>
            <a:endParaRPr b="0" lang="en-US" sz="2000" spc="-1" strike="noStrike">
              <a:solidFill>
                <a:srgbClr val="000000"/>
              </a:solidFill>
              <a:uFill>
                <a:solidFill>
                  <a:srgbClr val="ffffff"/>
                </a:solidFill>
              </a:uFill>
              <a:latin typeface="Arial"/>
            </a:endParaRPr>
          </a:p>
        </p:txBody>
      </p:sp>
      <p:sp>
        <p:nvSpPr>
          <p:cNvPr id="39" name="PlaceHolder 2"/>
          <p:cNvSpPr>
            <a:spLocks noGrp="1"/>
          </p:cNvSpPr>
          <p:nvPr>
            <p:ph type="hdr"/>
          </p:nvPr>
        </p:nvSpPr>
        <p:spPr>
          <a:xfrm>
            <a:off x="0" y="0"/>
            <a:ext cx="3372840" cy="502560"/>
          </a:xfrm>
          <a:prstGeom prst="rect">
            <a:avLst/>
          </a:prstGeom>
        </p:spPr>
        <p:txBody>
          <a:bodyPr lIns="0" rIns="0" tIns="0" bIns="0"/>
          <a:p>
            <a:r>
              <a:rPr b="0" lang="en-US" sz="1400" spc="-1" strike="noStrike">
                <a:solidFill>
                  <a:srgbClr val="000000"/>
                </a:solidFill>
                <a:uFill>
                  <a:solidFill>
                    <a:srgbClr val="ffffff"/>
                  </a:solidFill>
                </a:uFill>
                <a:latin typeface="Times New Roman"/>
              </a:rPr>
              <a:t>&lt;header&gt;</a:t>
            </a:r>
            <a:endParaRPr b="0" lang="en-US" sz="1400" spc="-1" strike="noStrike">
              <a:solidFill>
                <a:srgbClr val="000000"/>
              </a:solidFill>
              <a:uFill>
                <a:solidFill>
                  <a:srgbClr val="ffffff"/>
                </a:solidFill>
              </a:uFill>
              <a:latin typeface="Times New Roman"/>
            </a:endParaRPr>
          </a:p>
        </p:txBody>
      </p:sp>
      <p:sp>
        <p:nvSpPr>
          <p:cNvPr id="40" name="PlaceHolder 3"/>
          <p:cNvSpPr>
            <a:spLocks noGrp="1"/>
          </p:cNvSpPr>
          <p:nvPr>
            <p:ph type="dt"/>
          </p:nvPr>
        </p:nvSpPr>
        <p:spPr>
          <a:xfrm>
            <a:off x="4399200" y="0"/>
            <a:ext cx="3372840" cy="502560"/>
          </a:xfrm>
          <a:prstGeom prst="rect">
            <a:avLst/>
          </a:prstGeom>
        </p:spPr>
        <p:txBody>
          <a:bodyPr lIns="0" rIns="0" tIns="0" bIns="0"/>
          <a:p>
            <a:pPr algn="r"/>
            <a:r>
              <a:rPr b="0" lang="en-US" sz="1400" spc="-1" strike="noStrike">
                <a:solidFill>
                  <a:srgbClr val="000000"/>
                </a:solidFill>
                <a:uFill>
                  <a:solidFill>
                    <a:srgbClr val="ffffff"/>
                  </a:solidFill>
                </a:uFill>
                <a:latin typeface="Times New Roman"/>
              </a:rPr>
              <a:t>&lt;date/time&gt;</a:t>
            </a:r>
            <a:endParaRPr b="0" lang="en-US" sz="1400" spc="-1" strike="noStrike">
              <a:solidFill>
                <a:srgbClr val="000000"/>
              </a:solidFill>
              <a:uFill>
                <a:solidFill>
                  <a:srgbClr val="ffffff"/>
                </a:solidFill>
              </a:uFill>
              <a:latin typeface="Times New Roman"/>
            </a:endParaRPr>
          </a:p>
        </p:txBody>
      </p:sp>
      <p:sp>
        <p:nvSpPr>
          <p:cNvPr id="41" name="PlaceHolder 4"/>
          <p:cNvSpPr>
            <a:spLocks noGrp="1"/>
          </p:cNvSpPr>
          <p:nvPr>
            <p:ph type="ftr"/>
          </p:nvPr>
        </p:nvSpPr>
        <p:spPr>
          <a:xfrm>
            <a:off x="0" y="9555480"/>
            <a:ext cx="3372840" cy="502560"/>
          </a:xfrm>
          <a:prstGeom prst="rect">
            <a:avLst/>
          </a:prstGeom>
        </p:spPr>
        <p:txBody>
          <a:bodyPr lIns="0" rIns="0" tIns="0" bIns="0" anchor="b"/>
          <a:p>
            <a:r>
              <a:rPr b="0" lang="en-US" sz="1400" spc="-1" strike="noStrike">
                <a:solidFill>
                  <a:srgbClr val="000000"/>
                </a:solidFill>
                <a:uFill>
                  <a:solidFill>
                    <a:srgbClr val="ffffff"/>
                  </a:solidFill>
                </a:uFill>
                <a:latin typeface="Times New Roman"/>
              </a:rPr>
              <a:t>&lt;footer&gt;</a:t>
            </a:r>
            <a:endParaRPr b="0" lang="en-US" sz="1400" spc="-1" strike="noStrike">
              <a:solidFill>
                <a:srgbClr val="000000"/>
              </a:solidFill>
              <a:uFill>
                <a:solidFill>
                  <a:srgbClr val="ffffff"/>
                </a:solidFill>
              </a:uFill>
              <a:latin typeface="Times New Roman"/>
            </a:endParaRPr>
          </a:p>
        </p:txBody>
      </p:sp>
      <p:sp>
        <p:nvSpPr>
          <p:cNvPr id="42" name="PlaceHolder 5"/>
          <p:cNvSpPr>
            <a:spLocks noGrp="1"/>
          </p:cNvSpPr>
          <p:nvPr>
            <p:ph type="sldNum"/>
          </p:nvPr>
        </p:nvSpPr>
        <p:spPr>
          <a:xfrm>
            <a:off x="4399200" y="9555480"/>
            <a:ext cx="3372840" cy="502560"/>
          </a:xfrm>
          <a:prstGeom prst="rect">
            <a:avLst/>
          </a:prstGeom>
        </p:spPr>
        <p:txBody>
          <a:bodyPr lIns="0" rIns="0" tIns="0" bIns="0" anchor="b"/>
          <a:p>
            <a:pPr algn="r"/>
            <a:fld id="{85FA4BA9-E6AF-4987-B6AC-EC53C4E74B0B}" type="slidenum">
              <a:rPr b="0" lang="en-US" sz="1400" spc="-1" strike="noStrike">
                <a:solidFill>
                  <a:srgbClr val="000000"/>
                </a:solidFill>
                <a:uFill>
                  <a:solidFill>
                    <a:srgbClr val="ffffff"/>
                  </a:solidFill>
                </a:uFill>
                <a:latin typeface="Times New Roman"/>
              </a:rPr>
              <a:t>&lt;number&gt;</a:t>
            </a:fld>
            <a:endParaRPr b="0" lang="en-US" sz="1400" spc="-1" strike="noStrike">
              <a:solidFill>
                <a:srgbClr val="000000"/>
              </a:solidFill>
              <a:uFill>
                <a:solidFill>
                  <a:srgbClr val="ffffff"/>
                </a:solidFill>
              </a:u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CustomShape 1"/>
          <p:cNvSpPr/>
          <p:nvPr/>
        </p:nvSpPr>
        <p:spPr>
          <a:xfrm>
            <a:off x="777600" y="4776840"/>
            <a:ext cx="6217920" cy="4525560"/>
          </a:xfrm>
          <a:prstGeom prst="rect">
            <a:avLst/>
          </a:prstGeom>
          <a:noFill/>
          <a:ln>
            <a:noFill/>
          </a:ln>
        </p:spPr>
        <p:style>
          <a:lnRef idx="0"/>
          <a:fillRef idx="0"/>
          <a:effectRef idx="0"/>
          <a:fontRef idx="minor"/>
        </p:style>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5" name="PlaceHolder 2"/>
          <p:cNvSpPr>
            <a:spLocks noGrp="1"/>
          </p:cNvSpPr>
          <p:nvPr>
            <p:ph type="subTitle"/>
          </p:nvPr>
        </p:nvSpPr>
        <p:spPr>
          <a:xfrm>
            <a:off x="609480" y="1604520"/>
            <a:ext cx="10973520" cy="397728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7" name="PlaceHolder 2"/>
          <p:cNvSpPr>
            <a:spLocks noGrp="1"/>
          </p:cNvSpPr>
          <p:nvPr>
            <p:ph type="body"/>
          </p:nvPr>
        </p:nvSpPr>
        <p:spPr>
          <a:xfrm>
            <a:off x="609480" y="1604520"/>
            <a:ext cx="10973520" cy="397728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9" name="PlaceHolder 2"/>
          <p:cNvSpPr>
            <a:spLocks noGrp="1"/>
          </p:cNvSpPr>
          <p:nvPr>
            <p:ph type="body"/>
          </p:nvPr>
        </p:nvSpPr>
        <p:spPr>
          <a:xfrm>
            <a:off x="609480" y="1604520"/>
            <a:ext cx="5355000" cy="397728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10" name="PlaceHolder 3"/>
          <p:cNvSpPr>
            <a:spLocks noGrp="1"/>
          </p:cNvSpPr>
          <p:nvPr>
            <p:ph type="body"/>
          </p:nvPr>
        </p:nvSpPr>
        <p:spPr>
          <a:xfrm>
            <a:off x="6232680" y="1604520"/>
            <a:ext cx="5355000" cy="397728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3520" cy="530784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4" name="PlaceHolder 2"/>
          <p:cNvSpPr>
            <a:spLocks noGrp="1"/>
          </p:cNvSpPr>
          <p:nvPr>
            <p:ph type="body"/>
          </p:nvPr>
        </p:nvSpPr>
        <p:spPr>
          <a:xfrm>
            <a:off x="609480" y="160452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15" name="PlaceHolder 3"/>
          <p:cNvSpPr>
            <a:spLocks noGrp="1"/>
          </p:cNvSpPr>
          <p:nvPr>
            <p:ph type="body"/>
          </p:nvPr>
        </p:nvSpPr>
        <p:spPr>
          <a:xfrm>
            <a:off x="609480" y="368208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16" name="PlaceHolder 4"/>
          <p:cNvSpPr>
            <a:spLocks noGrp="1"/>
          </p:cNvSpPr>
          <p:nvPr>
            <p:ph type="body"/>
          </p:nvPr>
        </p:nvSpPr>
        <p:spPr>
          <a:xfrm>
            <a:off x="6232680" y="1604520"/>
            <a:ext cx="5355000" cy="397728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8" name="PlaceHolder 2"/>
          <p:cNvSpPr>
            <a:spLocks noGrp="1"/>
          </p:cNvSpPr>
          <p:nvPr>
            <p:ph type="body"/>
          </p:nvPr>
        </p:nvSpPr>
        <p:spPr>
          <a:xfrm>
            <a:off x="609480" y="1604520"/>
            <a:ext cx="5355000" cy="397728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19" name="PlaceHolder 3"/>
          <p:cNvSpPr>
            <a:spLocks noGrp="1"/>
          </p:cNvSpPr>
          <p:nvPr>
            <p:ph type="body"/>
          </p:nvPr>
        </p:nvSpPr>
        <p:spPr>
          <a:xfrm>
            <a:off x="6232680" y="160452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20" name="PlaceHolder 4"/>
          <p:cNvSpPr>
            <a:spLocks noGrp="1"/>
          </p:cNvSpPr>
          <p:nvPr>
            <p:ph type="body"/>
          </p:nvPr>
        </p:nvSpPr>
        <p:spPr>
          <a:xfrm>
            <a:off x="6232680" y="368208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22" name="PlaceHolder 2"/>
          <p:cNvSpPr>
            <a:spLocks noGrp="1"/>
          </p:cNvSpPr>
          <p:nvPr>
            <p:ph type="body"/>
          </p:nvPr>
        </p:nvSpPr>
        <p:spPr>
          <a:xfrm>
            <a:off x="609480" y="160452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23" name="PlaceHolder 3"/>
          <p:cNvSpPr>
            <a:spLocks noGrp="1"/>
          </p:cNvSpPr>
          <p:nvPr>
            <p:ph type="body"/>
          </p:nvPr>
        </p:nvSpPr>
        <p:spPr>
          <a:xfrm>
            <a:off x="6232680" y="160452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24" name="PlaceHolder 4"/>
          <p:cNvSpPr>
            <a:spLocks noGrp="1"/>
          </p:cNvSpPr>
          <p:nvPr>
            <p:ph type="body"/>
          </p:nvPr>
        </p:nvSpPr>
        <p:spPr>
          <a:xfrm>
            <a:off x="609480" y="3682080"/>
            <a:ext cx="1097352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26" name="PlaceHolder 2"/>
          <p:cNvSpPr>
            <a:spLocks noGrp="1"/>
          </p:cNvSpPr>
          <p:nvPr>
            <p:ph type="body"/>
          </p:nvPr>
        </p:nvSpPr>
        <p:spPr>
          <a:xfrm>
            <a:off x="609480" y="1604520"/>
            <a:ext cx="1097352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27" name="PlaceHolder 3"/>
          <p:cNvSpPr>
            <a:spLocks noGrp="1"/>
          </p:cNvSpPr>
          <p:nvPr>
            <p:ph type="body"/>
          </p:nvPr>
        </p:nvSpPr>
        <p:spPr>
          <a:xfrm>
            <a:off x="609480" y="3682080"/>
            <a:ext cx="1097352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29" name="PlaceHolder 2"/>
          <p:cNvSpPr>
            <a:spLocks noGrp="1"/>
          </p:cNvSpPr>
          <p:nvPr>
            <p:ph type="body"/>
          </p:nvPr>
        </p:nvSpPr>
        <p:spPr>
          <a:xfrm>
            <a:off x="609480" y="160452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30" name="PlaceHolder 3"/>
          <p:cNvSpPr>
            <a:spLocks noGrp="1"/>
          </p:cNvSpPr>
          <p:nvPr>
            <p:ph type="body"/>
          </p:nvPr>
        </p:nvSpPr>
        <p:spPr>
          <a:xfrm>
            <a:off x="6232680" y="160452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31" name="PlaceHolder 4"/>
          <p:cNvSpPr>
            <a:spLocks noGrp="1"/>
          </p:cNvSpPr>
          <p:nvPr>
            <p:ph type="body"/>
          </p:nvPr>
        </p:nvSpPr>
        <p:spPr>
          <a:xfrm>
            <a:off x="6232680" y="368208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32" name="PlaceHolder 5"/>
          <p:cNvSpPr>
            <a:spLocks noGrp="1"/>
          </p:cNvSpPr>
          <p:nvPr>
            <p:ph type="body"/>
          </p:nvPr>
        </p:nvSpPr>
        <p:spPr>
          <a:xfrm>
            <a:off x="609480" y="3682080"/>
            <a:ext cx="5355000" cy="189684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352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34" name="PlaceHolder 2"/>
          <p:cNvSpPr>
            <a:spLocks noGrp="1"/>
          </p:cNvSpPr>
          <p:nvPr>
            <p:ph type="body"/>
          </p:nvPr>
        </p:nvSpPr>
        <p:spPr>
          <a:xfrm>
            <a:off x="609480" y="1604520"/>
            <a:ext cx="10973520" cy="397728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sp>
        <p:nvSpPr>
          <p:cNvPr id="35" name="PlaceHolder 3"/>
          <p:cNvSpPr>
            <a:spLocks noGrp="1"/>
          </p:cNvSpPr>
          <p:nvPr>
            <p:ph type="body"/>
          </p:nvPr>
        </p:nvSpPr>
        <p:spPr>
          <a:xfrm>
            <a:off x="609480" y="1604520"/>
            <a:ext cx="10973520" cy="3977280"/>
          </a:xfrm>
          <a:prstGeom prst="rect">
            <a:avLst/>
          </a:prstGeom>
        </p:spPr>
        <p:txBody>
          <a:bodyPr lIns="0" rIns="0" tIns="0" bIns="0"/>
          <a:p>
            <a:endParaRPr b="0" lang="en-US" sz="3200" spc="-1" strike="noStrike">
              <a:solidFill>
                <a:srgbClr val="000000"/>
              </a:solidFill>
              <a:uFill>
                <a:solidFill>
                  <a:srgbClr val="ffffff"/>
                </a:solidFill>
              </a:uFill>
              <a:latin typeface="Arial"/>
            </a:endParaRPr>
          </a:p>
        </p:txBody>
      </p:sp>
      <p:pic>
        <p:nvPicPr>
          <p:cNvPr id="36" name="" descr=""/>
          <p:cNvPicPr/>
          <p:nvPr/>
        </p:nvPicPr>
        <p:blipFill>
          <a:blip r:embed="rId2"/>
          <a:stretch/>
        </p:blipFill>
        <p:spPr>
          <a:xfrm>
            <a:off x="3603600" y="1604520"/>
            <a:ext cx="4984920" cy="3977280"/>
          </a:xfrm>
          <a:prstGeom prst="rect">
            <a:avLst/>
          </a:prstGeom>
          <a:ln>
            <a:noFill/>
          </a:ln>
        </p:spPr>
      </p:pic>
      <p:pic>
        <p:nvPicPr>
          <p:cNvPr id="37" name="" descr=""/>
          <p:cNvPicPr/>
          <p:nvPr/>
        </p:nvPicPr>
        <p:blipFill>
          <a:blip r:embed="rId3"/>
          <a:stretch/>
        </p:blipFill>
        <p:spPr>
          <a:xfrm>
            <a:off x="3603600" y="1604520"/>
            <a:ext cx="4984920" cy="397728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0"/>
            <a:ext cx="12189960" cy="1749240"/>
          </a:xfrm>
          <a:prstGeom prst="rect">
            <a:avLst/>
          </a:prstGeom>
          <a:solidFill>
            <a:srgbClr val="00bef2"/>
          </a:solidFill>
          <a:ln>
            <a:noFill/>
          </a:ln>
        </p:spPr>
        <p:style>
          <a:lnRef idx="0"/>
          <a:fillRef idx="0"/>
          <a:effectRef idx="0"/>
          <a:fontRef idx="minor"/>
        </p:style>
      </p:sp>
      <p:pic>
        <p:nvPicPr>
          <p:cNvPr id="1" name="" descr=""/>
          <p:cNvPicPr/>
          <p:nvPr/>
        </p:nvPicPr>
        <p:blipFill>
          <a:blip r:embed="rId2"/>
          <a:stretch/>
        </p:blipFill>
        <p:spPr>
          <a:xfrm>
            <a:off x="0" y="0"/>
            <a:ext cx="12189960" cy="6857640"/>
          </a:xfrm>
          <a:prstGeom prst="rect">
            <a:avLst/>
          </a:prstGeom>
          <a:ln>
            <a:noFill/>
          </a:ln>
        </p:spPr>
      </p:pic>
      <p:sp>
        <p:nvSpPr>
          <p:cNvPr id="2" name="PlaceHolder 2"/>
          <p:cNvSpPr>
            <a:spLocks noGrp="1"/>
          </p:cNvSpPr>
          <p:nvPr>
            <p:ph type="title"/>
          </p:nvPr>
        </p:nvSpPr>
        <p:spPr>
          <a:xfrm>
            <a:off x="609480" y="273600"/>
            <a:ext cx="10973520" cy="1144800"/>
          </a:xfrm>
          <a:prstGeom prst="rect">
            <a:avLst/>
          </a:prstGeom>
        </p:spPr>
        <p:txBody>
          <a:bodyPr lIns="0" rIns="0" tIns="0" bIns="0" anchor="ctr"/>
          <a:p>
            <a:pPr algn="ctr"/>
            <a:r>
              <a:rPr b="0" lang="en-US" sz="4400" spc="-1" strike="noStrike">
                <a:solidFill>
                  <a:srgbClr val="000000"/>
                </a:solidFill>
                <a:uFill>
                  <a:solidFill>
                    <a:srgbClr val="ffffff"/>
                  </a:solidFill>
                </a:uFill>
                <a:latin typeface="Arial"/>
              </a:rPr>
              <a:t>Click to edit the title text format</a:t>
            </a:r>
            <a:endParaRPr b="0" lang="en-US" sz="4400" spc="-1" strike="noStrike">
              <a:solidFill>
                <a:srgbClr val="000000"/>
              </a:solidFill>
              <a:uFill>
                <a:solidFill>
                  <a:srgbClr val="ffffff"/>
                </a:solidFill>
              </a:uFill>
              <a:latin typeface="Arial"/>
            </a:endParaRPr>
          </a:p>
        </p:txBody>
      </p:sp>
      <p:sp>
        <p:nvSpPr>
          <p:cNvPr id="3" name="PlaceHolder 3"/>
          <p:cNvSpPr>
            <a:spLocks noGrp="1"/>
          </p:cNvSpPr>
          <p:nvPr>
            <p:ph type="body"/>
          </p:nvPr>
        </p:nvSpPr>
        <p:spPr>
          <a:xfrm>
            <a:off x="609480" y="1604520"/>
            <a:ext cx="10973520" cy="3977280"/>
          </a:xfrm>
          <a:prstGeom prst="rect">
            <a:avLst/>
          </a:prstGeom>
        </p:spPr>
        <p:txBody>
          <a:bodyPr lIns="0" rIns="0" tIns="0" bIns="0"/>
          <a:p>
            <a:pPr marL="432000" indent="-324000">
              <a:buClr>
                <a:srgbClr val="000000"/>
              </a:buClr>
              <a:buSzPct val="45000"/>
              <a:buFont typeface="Wingdings" charset="2"/>
              <a:buChar char=""/>
            </a:pPr>
            <a:r>
              <a:rPr b="0" lang="en-US" sz="3200" spc="-1" strike="noStrike">
                <a:solidFill>
                  <a:srgbClr val="000000"/>
                </a:solidFill>
                <a:uFill>
                  <a:solidFill>
                    <a:srgbClr val="ffffff"/>
                  </a:solidFill>
                </a:uFill>
                <a:latin typeface="Arial"/>
              </a:rPr>
              <a:t>Click to edit the outline text format</a:t>
            </a:r>
            <a:endParaRPr b="0" lang="en-US"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b="0" lang="en-US" sz="2800" spc="-1" strike="noStrike">
                <a:solidFill>
                  <a:srgbClr val="000000"/>
                </a:solidFill>
                <a:uFill>
                  <a:solidFill>
                    <a:srgbClr val="ffffff"/>
                  </a:solidFill>
                </a:uFill>
                <a:latin typeface="Arial"/>
              </a:rPr>
              <a:t>Second Outline Level</a:t>
            </a:r>
            <a:endParaRPr b="0" lang="en-US"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b="0" lang="en-US" sz="2400" spc="-1" strike="noStrike">
                <a:solidFill>
                  <a:srgbClr val="000000"/>
                </a:solidFill>
                <a:uFill>
                  <a:solidFill>
                    <a:srgbClr val="ffffff"/>
                  </a:solidFill>
                </a:uFill>
                <a:latin typeface="Arial"/>
              </a:rPr>
              <a:t>Third Outline Level</a:t>
            </a:r>
            <a:endParaRPr b="0" lang="en-US"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b="0" lang="en-US" sz="2000" spc="-1" strike="noStrike">
                <a:solidFill>
                  <a:srgbClr val="000000"/>
                </a:solidFill>
                <a:uFill>
                  <a:solidFill>
                    <a:srgbClr val="ffffff"/>
                  </a:solidFill>
                </a:uFill>
                <a:latin typeface="Arial"/>
              </a:rPr>
              <a:t>Fourth Outline Level</a:t>
            </a:r>
            <a:endParaRPr b="0" lang="en-US"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b="0" lang="en-US" sz="2000" spc="-1" strike="noStrike">
                <a:solidFill>
                  <a:srgbClr val="000000"/>
                </a:solidFill>
                <a:uFill>
                  <a:solidFill>
                    <a:srgbClr val="ffffff"/>
                  </a:solidFill>
                </a:uFill>
                <a:latin typeface="Arial"/>
              </a:rPr>
              <a:t>Fifth Outline Level</a:t>
            </a:r>
            <a:endParaRPr b="0" lang="en-US"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b="0" lang="en-US" sz="2000" spc="-1" strike="noStrike">
                <a:solidFill>
                  <a:srgbClr val="000000"/>
                </a:solidFill>
                <a:uFill>
                  <a:solidFill>
                    <a:srgbClr val="ffffff"/>
                  </a:solidFill>
                </a:uFill>
                <a:latin typeface="Arial"/>
              </a:rPr>
              <a:t>Sixth Outline Level</a:t>
            </a:r>
            <a:endParaRPr b="0" lang="en-US"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b="0" lang="en-US" sz="2000" spc="-1" strike="noStrike">
                <a:solidFill>
                  <a:srgbClr val="000000"/>
                </a:solidFill>
                <a:uFill>
                  <a:solidFill>
                    <a:srgbClr val="ffffff"/>
                  </a:solidFill>
                </a:uFill>
                <a:latin typeface="Arial"/>
              </a:rPr>
              <a:t>Seventh Outline Level</a:t>
            </a:r>
            <a:endParaRPr b="0"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hyperlink" Target="mailto:aleksandar.berar@gmail.com" TargetMode="External"/><Relationship Id="rId2" Type="http://schemas.openxmlformats.org/officeDocument/2006/relationships/hyperlink" Target="https://github.com/berar/Causality" TargetMode="External"/><Relationship Id="rId3" Type="http://schemas.openxmlformats.org/officeDocument/2006/relationships/slideLayout" Target="../slideLayouts/slideLayout1.xml"/><Relationship Id="rId4"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CustomShape 1"/>
          <p:cNvSpPr/>
          <p:nvPr/>
        </p:nvSpPr>
        <p:spPr>
          <a:xfrm>
            <a:off x="1346040" y="1913040"/>
            <a:ext cx="5035320" cy="3706200"/>
          </a:xfrm>
          <a:prstGeom prst="rect">
            <a:avLst/>
          </a:prstGeom>
          <a:noFill/>
          <a:ln>
            <a:noFill/>
          </a:ln>
        </p:spPr>
        <p:style>
          <a:lnRef idx="0"/>
          <a:fillRef idx="0"/>
          <a:effectRef idx="0"/>
          <a:fontRef idx="minor"/>
        </p:style>
        <p:txBody>
          <a:bodyPr lIns="90000" rIns="90000" tIns="122040" bIns="122040"/>
          <a:p>
            <a:pPr algn="ctr">
              <a:lnSpc>
                <a:spcPct val="100000"/>
              </a:lnSpc>
            </a:pPr>
            <a:r>
              <a:rPr b="1" lang="en-US" sz="3200" spc="-1" strike="noStrike">
                <a:solidFill>
                  <a:srgbClr val="25516c"/>
                </a:solidFill>
                <a:uFill>
                  <a:solidFill>
                    <a:srgbClr val="ffffff"/>
                  </a:solidFill>
                </a:uFill>
                <a:latin typeface="Times New Roman"/>
                <a:ea typeface="Source Sans Pro"/>
              </a:rPr>
              <a:t>CAUSALITY LIBRARY FOR FORMAL SYSTEM</a:t>
            </a:r>
            <a:endParaRPr b="0" lang="en-US" sz="1800" spc="-1" strike="noStrike">
              <a:solidFill>
                <a:srgbClr val="000000"/>
              </a:solidFill>
              <a:uFill>
                <a:solidFill>
                  <a:srgbClr val="ffffff"/>
                </a:solidFill>
              </a:uFill>
              <a:latin typeface="Arial"/>
            </a:endParaRPr>
          </a:p>
          <a:p>
            <a:pPr algn="ctr">
              <a:lnSpc>
                <a:spcPct val="100000"/>
              </a:lnSpc>
            </a:pPr>
            <a:endParaRPr b="0" lang="en-US" sz="1800" spc="-1" strike="noStrike">
              <a:solidFill>
                <a:srgbClr val="000000"/>
              </a:solidFill>
              <a:uFill>
                <a:solidFill>
                  <a:srgbClr val="ffffff"/>
                </a:solidFill>
              </a:uFill>
              <a:latin typeface="Arial"/>
            </a:endParaRPr>
          </a:p>
          <a:p>
            <a:pPr algn="ctr">
              <a:lnSpc>
                <a:spcPct val="100000"/>
              </a:lnSpc>
            </a:pPr>
            <a:r>
              <a:rPr b="0" lang="en-US" sz="2000" spc="-1" strike="noStrike">
                <a:solidFill>
                  <a:srgbClr val="25516c"/>
                </a:solidFill>
                <a:uFill>
                  <a:solidFill>
                    <a:srgbClr val="ffffff"/>
                  </a:solidFill>
                </a:uFill>
                <a:latin typeface="Times New Roman"/>
                <a:ea typeface="Source Sans Pro"/>
              </a:rPr>
              <a:t>University of Novi Sad</a:t>
            </a:r>
            <a:endParaRPr b="0" lang="en-US" sz="1800" spc="-1" strike="noStrike">
              <a:solidFill>
                <a:srgbClr val="000000"/>
              </a:solidFill>
              <a:uFill>
                <a:solidFill>
                  <a:srgbClr val="ffffff"/>
                </a:solidFill>
              </a:uFill>
              <a:latin typeface="Arial"/>
            </a:endParaRPr>
          </a:p>
          <a:p>
            <a:pPr algn="ctr">
              <a:lnSpc>
                <a:spcPct val="100000"/>
              </a:lnSpc>
            </a:pPr>
            <a:r>
              <a:rPr b="0" lang="en-US" sz="2000" spc="-1" strike="noStrike">
                <a:solidFill>
                  <a:srgbClr val="25516c"/>
                </a:solidFill>
                <a:uFill>
                  <a:solidFill>
                    <a:srgbClr val="ffffff"/>
                  </a:solidFill>
                </a:uFill>
                <a:latin typeface="Times New Roman"/>
                <a:ea typeface="Source Sans Pro"/>
              </a:rPr>
              <a:t>Technical Faculty “Mihajlo Pupin”</a:t>
            </a:r>
            <a:endParaRPr b="0" lang="en-US" sz="1800" spc="-1" strike="noStrike">
              <a:solidFill>
                <a:srgbClr val="000000"/>
              </a:solidFill>
              <a:uFill>
                <a:solidFill>
                  <a:srgbClr val="ffffff"/>
                </a:solidFill>
              </a:uFill>
              <a:latin typeface="Arial"/>
            </a:endParaRPr>
          </a:p>
          <a:p>
            <a:pPr>
              <a:lnSpc>
                <a:spcPct val="100000"/>
              </a:lnSpc>
            </a:pPr>
            <a:endParaRPr b="0" lang="en-US" sz="1800" spc="-1" strike="noStrike">
              <a:solidFill>
                <a:srgbClr val="000000"/>
              </a:solidFill>
              <a:uFill>
                <a:solidFill>
                  <a:srgbClr val="ffffff"/>
                </a:solidFill>
              </a:uFill>
              <a:latin typeface="Arial"/>
            </a:endParaRPr>
          </a:p>
          <a:p>
            <a:pPr>
              <a:lnSpc>
                <a:spcPct val="100000"/>
              </a:lnSpc>
            </a:pPr>
            <a:r>
              <a:rPr b="0" lang="en-US" sz="2000" spc="-1" strike="noStrike">
                <a:solidFill>
                  <a:srgbClr val="25516c"/>
                </a:solidFill>
                <a:uFill>
                  <a:solidFill>
                    <a:srgbClr val="ffffff"/>
                  </a:solidFill>
                </a:uFill>
                <a:latin typeface="Times New Roman"/>
                <a:ea typeface="Source Sans Pro"/>
              </a:rPr>
              <a:t>Aleksandar Berar</a:t>
            </a:r>
            <a:endParaRPr b="0" lang="en-US" sz="1800" spc="-1" strike="noStrike">
              <a:solidFill>
                <a:srgbClr val="000000"/>
              </a:solidFill>
              <a:uFill>
                <a:solidFill>
                  <a:srgbClr val="ffffff"/>
                </a:solidFill>
              </a:uFill>
              <a:latin typeface="Arial"/>
            </a:endParaRPr>
          </a:p>
          <a:p>
            <a:pPr>
              <a:lnSpc>
                <a:spcPct val="100000"/>
              </a:lnSpc>
            </a:pPr>
            <a:r>
              <a:rPr b="0" lang="en-US" sz="2000" spc="-1" strike="noStrike">
                <a:solidFill>
                  <a:srgbClr val="25516c"/>
                </a:solidFill>
                <a:uFill>
                  <a:solidFill>
                    <a:srgbClr val="ffffff"/>
                  </a:solidFill>
                </a:uFill>
                <a:latin typeface="Times New Roman"/>
                <a:ea typeface="Source Sans Pro"/>
              </a:rPr>
              <a:t>dr Višnja Ognjenović</a:t>
            </a:r>
            <a:endParaRPr b="0" lang="en-US" sz="1800" spc="-1" strike="noStrike">
              <a:solidFill>
                <a:srgbClr val="000000"/>
              </a:solidFill>
              <a:uFill>
                <a:solidFill>
                  <a:srgbClr val="ffffff"/>
                </a:solidFill>
              </a:uFill>
              <a:latin typeface="Arial"/>
            </a:endParaRPr>
          </a:p>
          <a:p>
            <a:pPr>
              <a:lnSpc>
                <a:spcPct val="100000"/>
              </a:lnSpc>
            </a:pPr>
            <a:r>
              <a:rPr b="0" lang="en-US" sz="2000" spc="-1" strike="noStrike">
                <a:solidFill>
                  <a:srgbClr val="25516c"/>
                </a:solidFill>
                <a:uFill>
                  <a:solidFill>
                    <a:srgbClr val="ffffff"/>
                  </a:solidFill>
                </a:uFill>
                <a:latin typeface="Times New Roman"/>
                <a:ea typeface="Source Sans Pro"/>
              </a:rPr>
              <a:t>Prof. dr Ivana Berković</a:t>
            </a:r>
            <a:endParaRPr b="0" lang="en-US" sz="1800" spc="-1" strike="noStrike">
              <a:solidFill>
                <a:srgbClr val="000000"/>
              </a:solidFill>
              <a:uFill>
                <a:solidFill>
                  <a:srgbClr val="ffffff"/>
                </a:solidFill>
              </a:uFill>
              <a:latin typeface="Arial"/>
            </a:endParaRPr>
          </a:p>
          <a:p>
            <a:pPr algn="ctr">
              <a:lnSpc>
                <a:spcPct val="100000"/>
              </a:lnSpc>
            </a:pPr>
            <a:r>
              <a:rPr b="0" lang="en-US" sz="2000" spc="-1" strike="noStrike">
                <a:solidFill>
                  <a:srgbClr val="25516c"/>
                </a:solidFill>
                <a:uFill>
                  <a:solidFill>
                    <a:srgbClr val="ffffff"/>
                  </a:solidFill>
                </a:uFill>
                <a:latin typeface="Times New Roman"/>
                <a:ea typeface="Source Sans Pro"/>
              </a:rPr>
              <a:t>Zrenjanin, 2017</a:t>
            </a:r>
            <a:endParaRPr b="0" lang="en-US" sz="1800" spc="-1" strike="noStrike">
              <a:solidFill>
                <a:srgbClr val="000000"/>
              </a:solidFill>
              <a:uFill>
                <a:solidFill>
                  <a:srgbClr val="ffffff"/>
                </a:solidFill>
              </a:uFill>
              <a:latin typeface="Arial"/>
            </a:endParaRPr>
          </a:p>
        </p:txBody>
      </p:sp>
      <p:sp>
        <p:nvSpPr>
          <p:cNvPr id="44" name="CustomShape 2"/>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B46C2756-B2C1-4714-9234-B9FD40BA1B54}"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
        <p:nvSpPr>
          <p:cNvPr id="45" name="CustomShape 3"/>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3800" spc="-1" strike="noStrike">
                <a:solidFill>
                  <a:srgbClr val="ffffff"/>
                </a:solidFill>
                <a:uFill>
                  <a:solidFill>
                    <a:srgbClr val="ffffff"/>
                  </a:solidFill>
                </a:uFill>
                <a:latin typeface="Times New Roman"/>
                <a:ea typeface="DejaVu Sans"/>
              </a:rPr>
              <a:t>AIIT 2017  </a:t>
            </a:r>
            <a:endParaRPr b="0" lang="en-US" sz="1800" spc="-1" strike="noStrike">
              <a:solidFill>
                <a:srgbClr val="000000"/>
              </a:solidFill>
              <a:uFill>
                <a:solidFill>
                  <a:srgbClr val="ffffff"/>
                </a:solidFill>
              </a:uFill>
              <a:latin typeface="Arial"/>
            </a:endParaRPr>
          </a:p>
        </p:txBody>
      </p:sp>
      <p:pic>
        <p:nvPicPr>
          <p:cNvPr id="46" name="" descr=""/>
          <p:cNvPicPr/>
          <p:nvPr/>
        </p:nvPicPr>
        <p:blipFill>
          <a:blip r:embed="rId1"/>
          <a:stretch/>
        </p:blipFill>
        <p:spPr>
          <a:xfrm>
            <a:off x="6765840" y="1768320"/>
            <a:ext cx="4174920" cy="4174920"/>
          </a:xfrm>
          <a:prstGeom prst="rect">
            <a:avLst/>
          </a:prstGeom>
          <a:ln>
            <a:noFill/>
          </a:ln>
        </p:spPr>
      </p:pic>
    </p:spTree>
  </p:cSld>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1. INTRODUCTION</a:t>
            </a:r>
            <a:endParaRPr b="0" lang="en-US" sz="1800" spc="-1" strike="noStrike">
              <a:solidFill>
                <a:srgbClr val="000000"/>
              </a:solidFill>
              <a:uFill>
                <a:solidFill>
                  <a:srgbClr val="ffffff"/>
                </a:solidFill>
              </a:uFill>
              <a:latin typeface="Arial"/>
            </a:endParaRPr>
          </a:p>
        </p:txBody>
      </p:sp>
      <p:sp>
        <p:nvSpPr>
          <p:cNvPr id="48"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r>
              <a:rPr b="0" lang="sr-Latn-RS" sz="2000" spc="-1" strike="noStrike">
                <a:solidFill>
                  <a:srgbClr val="000000"/>
                </a:solidFill>
                <a:uFill>
                  <a:solidFill>
                    <a:srgbClr val="ffffff"/>
                  </a:solidFill>
                </a:uFill>
                <a:latin typeface="Times New Roman"/>
                <a:ea typeface="DejaVu Sans"/>
              </a:rPr>
              <a:t>In this paper a java library called Causaility (causality or causality) will be presented.</a:t>
            </a:r>
            <a:endParaRPr b="0" lang="sr-Latn-RS" sz="1800" spc="-1" strike="noStrike">
              <a:solidFill>
                <a:srgbClr val="000000"/>
              </a:solidFill>
              <a:uFill>
                <a:solidFill>
                  <a:srgbClr val="ffffff"/>
                </a:solidFill>
              </a:uFill>
              <a:latin typeface="Arial"/>
            </a:endParaRPr>
          </a:p>
          <a:p>
            <a:pPr algn="just"/>
            <a:endParaRPr b="0" lang="sr-Latn-RS" sz="1800" spc="-1" strike="noStrike">
              <a:solidFill>
                <a:srgbClr val="000000"/>
              </a:solidFill>
              <a:uFill>
                <a:solidFill>
                  <a:srgbClr val="ffffff"/>
                </a:solidFill>
              </a:uFill>
              <a:latin typeface="Arial"/>
            </a:endParaRPr>
          </a:p>
          <a:p>
            <a:pPr algn="just"/>
            <a:r>
              <a:rPr b="0" lang="sr-Latn-RS" sz="2000" spc="-1" strike="noStrike">
                <a:solidFill>
                  <a:srgbClr val="000000"/>
                </a:solidFill>
                <a:uFill>
                  <a:solidFill>
                    <a:srgbClr val="ffffff"/>
                  </a:solidFill>
                </a:uFill>
                <a:latin typeface="Times New Roman"/>
                <a:ea typeface="DejaVu Sans"/>
              </a:rPr>
              <a:t>This name is chosen because the effect of the library resembles that term; the predetermined predicate chooses a subclass of a superclass which corresponds to the effect or consequence.</a:t>
            </a:r>
            <a:endParaRPr b="0" lang="sr-Latn-RS" sz="1800" spc="-1" strike="noStrike">
              <a:solidFill>
                <a:srgbClr val="000000"/>
              </a:solidFill>
              <a:uFill>
                <a:solidFill>
                  <a:srgbClr val="ffffff"/>
                </a:solidFill>
              </a:uFill>
              <a:latin typeface="Arial"/>
            </a:endParaRPr>
          </a:p>
          <a:p>
            <a:pPr algn="just"/>
            <a:endParaRPr b="0" lang="sr-Latn-RS" sz="1800" spc="-1" strike="noStrike">
              <a:solidFill>
                <a:srgbClr val="000000"/>
              </a:solidFill>
              <a:uFill>
                <a:solidFill>
                  <a:srgbClr val="ffffff"/>
                </a:solidFill>
              </a:uFill>
              <a:latin typeface="Arial"/>
            </a:endParaRPr>
          </a:p>
          <a:p>
            <a:pPr algn="just"/>
            <a:r>
              <a:rPr b="0" lang="sr-Latn-RS" sz="2000" spc="-1" strike="noStrike">
                <a:solidFill>
                  <a:srgbClr val="000000"/>
                </a:solidFill>
                <a:uFill>
                  <a:solidFill>
                    <a:srgbClr val="ffffff"/>
                  </a:solidFill>
                </a:uFill>
                <a:latin typeface="Times New Roman"/>
                <a:ea typeface="DejaVu Sans"/>
              </a:rPr>
              <a:t>For example, if there is a superclass called Shape that is split into classes such as Triangle, Square, etc. then predicates can be defined from which it would follow the appropriate class selection.</a:t>
            </a:r>
            <a:endParaRPr b="0" lang="sr-Latn-RS" sz="1800" spc="-1" strike="noStrike">
              <a:solidFill>
                <a:srgbClr val="000000"/>
              </a:solidFill>
              <a:uFill>
                <a:solidFill>
                  <a:srgbClr val="ffffff"/>
                </a:solidFill>
              </a:uFill>
              <a:latin typeface="Arial"/>
            </a:endParaRPr>
          </a:p>
          <a:p>
            <a:pPr marL="152280" algn="just">
              <a:lnSpc>
                <a:spcPct val="115000"/>
              </a:lnSpc>
            </a:pPr>
            <a:endParaRPr b="0" lang="en-US" sz="1800" spc="-1" strike="noStrike">
              <a:solidFill>
                <a:srgbClr val="000000"/>
              </a:solidFill>
              <a:uFill>
                <a:solidFill>
                  <a:srgbClr val="ffffff"/>
                </a:solidFill>
              </a:uFill>
              <a:latin typeface="Arial"/>
            </a:endParaRPr>
          </a:p>
        </p:txBody>
      </p:sp>
      <p:sp>
        <p:nvSpPr>
          <p:cNvPr id="49"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03FFDE93-331F-4D97-A873-0E5F1B2A7ABF}"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1. INTRODUCTION</a:t>
            </a:r>
            <a:endParaRPr b="0" lang="en-US" sz="1800" spc="-1" strike="noStrike">
              <a:solidFill>
                <a:srgbClr val="000000"/>
              </a:solidFill>
              <a:uFill>
                <a:solidFill>
                  <a:srgbClr val="ffffff"/>
                </a:solidFill>
              </a:uFill>
              <a:latin typeface="Arial"/>
            </a:endParaRPr>
          </a:p>
        </p:txBody>
      </p:sp>
      <p:sp>
        <p:nvSpPr>
          <p:cNvPr id="51"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r>
              <a:rPr b="0" lang="sr-Latn-RS" sz="2000" spc="-1" strike="noStrike">
                <a:solidFill>
                  <a:srgbClr val="000000"/>
                </a:solidFill>
                <a:uFill>
                  <a:solidFill>
                    <a:srgbClr val="ffffff"/>
                  </a:solidFill>
                </a:uFill>
                <a:latin typeface="Times New Roman"/>
                <a:ea typeface="DejaVu Sans"/>
              </a:rPr>
              <a:t>Java programming language is a compiled programming language. So if there is a need to make a change to the code, often the whole project must be re-compiled and artifacts must be installed again.</a:t>
            </a:r>
            <a:endParaRPr b="0" lang="sr-Latn-RS" sz="1800" spc="-1" strike="noStrike">
              <a:solidFill>
                <a:srgbClr val="000000"/>
              </a:solidFill>
              <a:uFill>
                <a:solidFill>
                  <a:srgbClr val="ffffff"/>
                </a:solidFill>
              </a:uFill>
              <a:latin typeface="Arial"/>
            </a:endParaRPr>
          </a:p>
          <a:p>
            <a:pPr algn="just"/>
            <a:endParaRPr b="0" lang="sr-Latn-RS" sz="1800" spc="-1" strike="noStrike">
              <a:solidFill>
                <a:srgbClr val="000000"/>
              </a:solidFill>
              <a:uFill>
                <a:solidFill>
                  <a:srgbClr val="ffffff"/>
                </a:solidFill>
              </a:uFill>
              <a:latin typeface="Arial"/>
            </a:endParaRPr>
          </a:p>
          <a:p>
            <a:pPr algn="just"/>
            <a:r>
              <a:rPr b="0" lang="sr-Latn-RS" sz="2000" spc="-1" strike="noStrike">
                <a:solidFill>
                  <a:srgbClr val="000000"/>
                </a:solidFill>
                <a:uFill>
                  <a:solidFill>
                    <a:srgbClr val="ffffff"/>
                  </a:solidFill>
                </a:uFill>
                <a:latin typeface="Times New Roman"/>
                <a:ea typeface="DejaVu Sans"/>
              </a:rPr>
              <a:t>Because of this case and problem, this library was created. In this way, it is possible to isolate parts of the system that can be redefined by altering the textual information consisting of JSON textuality and defining predicates and selecting class implementations in a different way, thereby avoiding re-compiling the entire project.</a:t>
            </a:r>
            <a:endParaRPr b="0" lang="sr-Latn-RS" sz="1800" spc="-1" strike="noStrike">
              <a:solidFill>
                <a:srgbClr val="000000"/>
              </a:solidFill>
              <a:uFill>
                <a:solidFill>
                  <a:srgbClr val="ffffff"/>
                </a:solidFill>
              </a:uFill>
              <a:latin typeface="Arial"/>
            </a:endParaRPr>
          </a:p>
        </p:txBody>
      </p:sp>
      <p:sp>
        <p:nvSpPr>
          <p:cNvPr id="52"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895CE3E0-D3E3-47E1-8B48-D7F44F815193}"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Tree>
  </p:cSld>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2. MATHEMATICAL SETTING </a:t>
            </a:r>
            <a:endParaRPr b="0" lang="en-US" sz="1800" spc="-1" strike="noStrike">
              <a:solidFill>
                <a:srgbClr val="000000"/>
              </a:solidFill>
              <a:uFill>
                <a:solidFill>
                  <a:srgbClr val="ffffff"/>
                </a:solidFill>
              </a:uFill>
              <a:latin typeface="Arial"/>
            </a:endParaRPr>
          </a:p>
        </p:txBody>
      </p:sp>
      <p:sp>
        <p:nvSpPr>
          <p:cNvPr id="54"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r>
              <a:rPr b="0" lang="en-US" sz="2000" spc="-1" strike="noStrike">
                <a:solidFill>
                  <a:srgbClr val="000000"/>
                </a:solidFill>
                <a:uFill>
                  <a:solidFill>
                    <a:srgbClr val="ffffff"/>
                  </a:solidFill>
                </a:uFill>
                <a:latin typeface="Times New Roman"/>
                <a:ea typeface="DejaVu Sans"/>
              </a:rPr>
              <a:t>A formal system or logical calculus is any well-defined system of abstract thought based on the model of mathematics. A formal system need not be mathematical as such</a:t>
            </a:r>
            <a:r>
              <a:rPr b="0" lang="sr-Latn-RS" sz="2000" spc="-1" strike="noStrike">
                <a:solidFill>
                  <a:srgbClr val="000000"/>
                </a:solidFill>
                <a:uFill>
                  <a:solidFill>
                    <a:srgbClr val="ffffff"/>
                  </a:solidFill>
                </a:uFill>
                <a:latin typeface="Times New Roman"/>
                <a:ea typeface="DejaVu Sans"/>
              </a:rPr>
              <a:t>.</a:t>
            </a:r>
            <a:endParaRPr b="0" lang="en-US" sz="1800" spc="-1" strike="noStrike">
              <a:solidFill>
                <a:srgbClr val="000000"/>
              </a:solidFill>
              <a:uFill>
                <a:solidFill>
                  <a:srgbClr val="ffffff"/>
                </a:solidFill>
              </a:uFill>
              <a:latin typeface="Arial"/>
            </a:endParaRPr>
          </a:p>
          <a:p>
            <a:pPr algn="just"/>
            <a:endParaRPr b="0" lang="en-US" sz="1800" spc="-1" strike="noStrike">
              <a:solidFill>
                <a:srgbClr val="000000"/>
              </a:solidFill>
              <a:uFill>
                <a:solidFill>
                  <a:srgbClr val="ffffff"/>
                </a:solidFill>
              </a:uFill>
              <a:latin typeface="Arial"/>
            </a:endParaRPr>
          </a:p>
          <a:p>
            <a:pPr algn="just"/>
            <a:r>
              <a:rPr b="0" lang="sr-Latn-RS" sz="2000" spc="-1" strike="noStrike">
                <a:solidFill>
                  <a:srgbClr val="000000"/>
                </a:solidFill>
                <a:uFill>
                  <a:solidFill>
                    <a:srgbClr val="ffffff"/>
                  </a:solidFill>
                </a:uFill>
                <a:latin typeface="Times New Roman"/>
                <a:ea typeface="DejaVu Sans"/>
              </a:rPr>
              <a:t>Each formal system uses a set of primitive symbols (sometimes known as an alphabet) to finitely construct a formal language from a set of axioms through inferential rules of formation.</a:t>
            </a:r>
            <a:endParaRPr b="0" lang="sr-Latn-RS" sz="1800" spc="-1" strike="noStrike">
              <a:solidFill>
                <a:srgbClr val="000000"/>
              </a:solidFill>
              <a:uFill>
                <a:solidFill>
                  <a:srgbClr val="ffffff"/>
                </a:solidFill>
              </a:uFill>
              <a:latin typeface="Arial"/>
            </a:endParaRPr>
          </a:p>
          <a:p>
            <a:pPr algn="just"/>
            <a:endParaRPr b="0" lang="sr-Latn-RS" sz="1800" spc="-1" strike="noStrike">
              <a:solidFill>
                <a:srgbClr val="000000"/>
              </a:solidFill>
              <a:uFill>
                <a:solidFill>
                  <a:srgbClr val="ffffff"/>
                </a:solidFill>
              </a:uFill>
              <a:latin typeface="Arial"/>
            </a:endParaRPr>
          </a:p>
          <a:p>
            <a:pPr algn="just"/>
            <a:r>
              <a:rPr b="0" lang="sr-Latn-RS" sz="2000" spc="-1" strike="noStrike">
                <a:solidFill>
                  <a:srgbClr val="000000"/>
                </a:solidFill>
                <a:uFill>
                  <a:solidFill>
                    <a:srgbClr val="ffffff"/>
                  </a:solidFill>
                </a:uFill>
                <a:latin typeface="Times New Roman"/>
                <a:ea typeface="DejaVu Sans"/>
              </a:rPr>
              <a:t>The system thus consists of valid formulas built up through finite combinations of the primitive symbols—combinations that are formed from the axioms in accordance with the stated rules.</a:t>
            </a:r>
            <a:endParaRPr b="0" lang="sr-Latn-RS" sz="1800" spc="-1" strike="noStrike">
              <a:solidFill>
                <a:srgbClr val="000000"/>
              </a:solidFill>
              <a:uFill>
                <a:solidFill>
                  <a:srgbClr val="ffffff"/>
                </a:solidFill>
              </a:uFill>
              <a:latin typeface="Arial"/>
            </a:endParaRPr>
          </a:p>
        </p:txBody>
      </p:sp>
      <p:sp>
        <p:nvSpPr>
          <p:cNvPr id="55"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4F72BC5E-B82A-404A-9D63-5A6214624781}"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Tree>
  </p:cSld>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2. MATHEMATICAL SETTING</a:t>
            </a:r>
            <a:endParaRPr b="0" lang="en-US" sz="1800" spc="-1" strike="noStrike">
              <a:solidFill>
                <a:srgbClr val="000000"/>
              </a:solidFill>
              <a:uFill>
                <a:solidFill>
                  <a:srgbClr val="ffffff"/>
                </a:solidFill>
              </a:uFill>
              <a:latin typeface="Arial"/>
            </a:endParaRPr>
          </a:p>
        </p:txBody>
      </p:sp>
      <p:sp>
        <p:nvSpPr>
          <p:cNvPr id="57"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lnSpc>
                <a:spcPct val="100000"/>
              </a:lnSpc>
            </a:pPr>
            <a:endParaRPr b="0" lang="en-US" sz="1800" spc="-1" strike="noStrike">
              <a:solidFill>
                <a:srgbClr val="000000"/>
              </a:solidFill>
              <a:uFill>
                <a:solidFill>
                  <a:srgbClr val="ffffff"/>
                </a:solidFill>
              </a:uFill>
              <a:latin typeface="Arial"/>
            </a:endParaRPr>
          </a:p>
          <a:p>
            <a:pPr marL="152280">
              <a:lnSpc>
                <a:spcPct val="115000"/>
              </a:lnSpc>
            </a:pPr>
            <a:endParaRPr b="0" lang="en-US" sz="1800" spc="-1" strike="noStrike">
              <a:solidFill>
                <a:srgbClr val="000000"/>
              </a:solidFill>
              <a:uFill>
                <a:solidFill>
                  <a:srgbClr val="ffffff"/>
                </a:solidFill>
              </a:uFill>
              <a:latin typeface="Arial"/>
            </a:endParaRPr>
          </a:p>
        </p:txBody>
      </p:sp>
      <p:sp>
        <p:nvSpPr>
          <p:cNvPr id="58"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018AB2FD-67A1-42CE-A1E2-65F600FC19A7}"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mc:AlternateContent>
        <mc:Choice xmlns:a14="http://schemas.microsoft.com/office/drawing/2010/main" Requires="a14">
          <p:sp>
            <p:nvSpPr>
              <p:cNvPr id="59" name="Formula 4"/>
              <p:cNvSpPr txBox="1"/>
              <p:nvPr/>
            </p:nvSpPr>
            <p:spPr>
              <a:xfrm>
                <a:off x="1295280" y="2468520"/>
                <a:ext cx="2269800" cy="1020600"/>
              </a:xfrm>
              <a:prstGeom prst="rect">
                <a:avLst/>
              </a:prstGeom>
            </p:spPr>
            <p:txBody>
              <a:bodyPr/>
              <a:p>
                <a14:m>
                  <m:oMath xmlns:m="http://schemas.openxmlformats.org/officeDocument/2006/math">
                    <m:r>
                      <m:t xml:space="preserve">c</m:t>
                    </m:r>
                    <m:d>
                      <m:dPr>
                        <m:begChr m:val="("/>
                        <m:endChr m:val=")"/>
                      </m:dPr>
                      <m:e>
                        <m:r>
                          <m:t xml:space="preserve">X</m:t>
                        </m:r>
                      </m:e>
                    </m:d>
                    <m:r>
                      <m:t xml:space="preserve">=</m:t>
                    </m:r>
                    <m:d>
                      <m:dPr>
                        <m:begChr m:val="{"/>
                        <m:endChr m:val="}"/>
                      </m:dPr>
                      <m:e>
                        <m:eqArr>
                          <m:e>
                            <m:sSub>
                              <m:e>
                                <m:r>
                                  <m:t xml:space="preserve">p</m:t>
                                </m:r>
                              </m:e>
                              <m:sub>
                                <m:r>
                                  <m:t xml:space="preserve">s</m:t>
                                </m:r>
                              </m:sub>
                            </m:sSub>
                            <m:r>
                              <m:t xml:space="preserve">∧</m:t>
                            </m:r>
                            <m:sSub>
                              <m:e>
                                <m:r>
                                  <m:t xml:space="preserve">p</m:t>
                                </m:r>
                              </m:e>
                              <m:sub>
                                <m:r>
                                  <m:t xml:space="preserve">1</m:t>
                                </m:r>
                              </m:sub>
                            </m:sSub>
                            <m:d>
                              <m:dPr>
                                <m:begChr m:val="("/>
                                <m:endChr m:val=")"/>
                              </m:dPr>
                              <m:e>
                                <m:sSub>
                                  <m:e>
                                    <m:r>
                                      <m:t xml:space="preserve">x</m:t>
                                    </m:r>
                                  </m:e>
                                  <m:sub>
                                    <m:r>
                                      <m:t xml:space="preserve">1</m:t>
                                    </m:r>
                                  </m:sub>
                                </m:sSub>
                                <m:sSub>
                                  <m:e>
                                    <m:r>
                                      <m:rPr>
                                        <m:lit/>
                                        <m:nor/>
                                      </m:rPr>
                                      <m:t xml:space="preserve">,x</m:t>
                                    </m:r>
                                  </m:e>
                                  <m:sub>
                                    <m:r>
                                      <m:t xml:space="preserve">2</m:t>
                                    </m:r>
                                  </m:sub>
                                </m:sSub>
                                <m:r>
                                  <m:t xml:space="preserve">,</m:t>
                                </m:r>
                                <m:r>
                                  <m:rPr>
                                    <m:lit/>
                                    <m:nor/>
                                  </m:rPr>
                                  <m:t xml:space="preserve">.</m:t>
                                </m:r>
                                <m:r>
                                  <m:rPr>
                                    <m:lit/>
                                    <m:nor/>
                                  </m:rPr>
                                  <m:t xml:space="preserve">.</m:t>
                                </m:r>
                                <m:r>
                                  <m:rPr>
                                    <m:lit/>
                                    <m:nor/>
                                  </m:rPr>
                                  <m:t xml:space="preserve">.</m:t>
                                </m:r>
                                <m:sSub>
                                  <m:e>
                                    <m:r>
                                      <m:t xml:space="preserve">x</m:t>
                                    </m:r>
                                  </m:e>
                                  <m:sub>
                                    <m:r>
                                      <m:t xml:space="preserve">n</m:t>
                                    </m:r>
                                  </m:sub>
                                </m:sSub>
                              </m:e>
                            </m:d>
                            <m:r>
                              <m:t xml:space="preserve">⇒</m:t>
                            </m:r>
                            <m:sSub>
                              <m:e>
                                <m:r>
                                  <m:t xml:space="preserve">K</m:t>
                                </m:r>
                              </m:e>
                              <m:sub>
                                <m:r>
                                  <m:t xml:space="preserve">1</m:t>
                                </m:r>
                              </m:sub>
                            </m:sSub>
                            <m:r>
                              <m:t xml:space="preserve">,</m:t>
                            </m:r>
                          </m:e>
                          <m:e>
                            <m:sSub>
                              <m:e>
                                <m:r>
                                  <m:t xml:space="preserve">p</m:t>
                                </m:r>
                              </m:e>
                              <m:sub>
                                <m:r>
                                  <m:t xml:space="preserve">s</m:t>
                                </m:r>
                              </m:sub>
                            </m:sSub>
                            <m:r>
                              <m:t xml:space="preserve">∧</m:t>
                            </m:r>
                            <m:sSub>
                              <m:e>
                                <m:r>
                                  <m:t xml:space="preserve">p</m:t>
                                </m:r>
                              </m:e>
                              <m:sub>
                                <m:r>
                                  <m:t xml:space="preserve">2</m:t>
                                </m:r>
                              </m:sub>
                            </m:sSub>
                            <m:d>
                              <m:dPr>
                                <m:begChr m:val="("/>
                                <m:endChr m:val=")"/>
                              </m:dPr>
                              <m:e>
                                <m:sSub>
                                  <m:e>
                                    <m:r>
                                      <m:t xml:space="preserve">x</m:t>
                                    </m:r>
                                  </m:e>
                                  <m:sub>
                                    <m:r>
                                      <m:t xml:space="preserve">1</m:t>
                                    </m:r>
                                  </m:sub>
                                </m:sSub>
                                <m:sSub>
                                  <m:e>
                                    <m:r>
                                      <m:rPr>
                                        <m:lit/>
                                        <m:nor/>
                                      </m:rPr>
                                      <m:t xml:space="preserve">,x</m:t>
                                    </m:r>
                                  </m:e>
                                  <m:sub>
                                    <m:r>
                                      <m:t xml:space="preserve">2</m:t>
                                    </m:r>
                                  </m:sub>
                                </m:sSub>
                                <m:r>
                                  <m:t xml:space="preserve">,</m:t>
                                </m:r>
                                <m:r>
                                  <m:rPr>
                                    <m:lit/>
                                    <m:nor/>
                                  </m:rPr>
                                  <m:t xml:space="preserve">.</m:t>
                                </m:r>
                                <m:r>
                                  <m:rPr>
                                    <m:lit/>
                                    <m:nor/>
                                  </m:rPr>
                                  <m:t xml:space="preserve">.</m:t>
                                </m:r>
                                <m:r>
                                  <m:rPr>
                                    <m:lit/>
                                    <m:nor/>
                                  </m:rPr>
                                  <m:t xml:space="preserve">.</m:t>
                                </m:r>
                                <m:sSub>
                                  <m:e>
                                    <m:r>
                                      <m:t xml:space="preserve">x</m:t>
                                    </m:r>
                                  </m:e>
                                  <m:sub>
                                    <m:r>
                                      <m:t xml:space="preserve">n</m:t>
                                    </m:r>
                                  </m:sub>
                                </m:sSub>
                              </m:e>
                            </m:d>
                            <m:r>
                              <m:t xml:space="preserve">⇒</m:t>
                            </m:r>
                            <m:sSub>
                              <m:e>
                                <m:r>
                                  <m:t xml:space="preserve">K</m:t>
                                </m:r>
                              </m:e>
                              <m:sub>
                                <m:r>
                                  <m:t xml:space="preserve">2</m:t>
                                </m:r>
                              </m:sub>
                            </m:sSub>
                            <m:r>
                              <m:t xml:space="preserve">,</m:t>
                            </m:r>
                          </m:e>
                          <m:e>
                            <m:r>
                              <m:t xml:space="preserve">⋮</m:t>
                            </m:r>
                          </m:e>
                          <m:e>
                            <m:sSub>
                              <m:e>
                                <m:r>
                                  <m:t xml:space="preserve">p</m:t>
                                </m:r>
                              </m:e>
                              <m:sub>
                                <m:r>
                                  <m:t xml:space="preserve">s</m:t>
                                </m:r>
                              </m:sub>
                            </m:sSub>
                            <m:r>
                              <m:t xml:space="preserve">∧</m:t>
                            </m:r>
                            <m:sSub>
                              <m:e>
                                <m:r>
                                  <m:t xml:space="preserve">p</m:t>
                                </m:r>
                              </m:e>
                              <m:sub>
                                <m:r>
                                  <m:t xml:space="preserve">m</m:t>
                                </m:r>
                              </m:sub>
                            </m:sSub>
                            <m:d>
                              <m:dPr>
                                <m:begChr m:val="("/>
                                <m:endChr m:val=")"/>
                              </m:dPr>
                              <m:e>
                                <m:sSub>
                                  <m:e>
                                    <m:r>
                                      <m:t xml:space="preserve">x</m:t>
                                    </m:r>
                                  </m:e>
                                  <m:sub>
                                    <m:r>
                                      <m:t xml:space="preserve">1</m:t>
                                    </m:r>
                                  </m:sub>
                                </m:sSub>
                                <m:sSub>
                                  <m:e>
                                    <m:r>
                                      <m:rPr>
                                        <m:lit/>
                                        <m:nor/>
                                      </m:rPr>
                                      <m:t xml:space="preserve">,x</m:t>
                                    </m:r>
                                  </m:e>
                                  <m:sub>
                                    <m:r>
                                      <m:t xml:space="preserve">2</m:t>
                                    </m:r>
                                  </m:sub>
                                </m:sSub>
                                <m:r>
                                  <m:t xml:space="preserve">,</m:t>
                                </m:r>
                                <m:r>
                                  <m:rPr>
                                    <m:lit/>
                                    <m:nor/>
                                  </m:rPr>
                                  <m:t xml:space="preserve">.</m:t>
                                </m:r>
                                <m:r>
                                  <m:rPr>
                                    <m:lit/>
                                    <m:nor/>
                                  </m:rPr>
                                  <m:t xml:space="preserve">.</m:t>
                                </m:r>
                                <m:r>
                                  <m:rPr>
                                    <m:lit/>
                                    <m:nor/>
                                  </m:rPr>
                                  <m:t xml:space="preserve">.</m:t>
                                </m:r>
                                <m:sSub>
                                  <m:e>
                                    <m:r>
                                      <m:t xml:space="preserve">x</m:t>
                                    </m:r>
                                  </m:e>
                                  <m:sub>
                                    <m:r>
                                      <m:t xml:space="preserve">n</m:t>
                                    </m:r>
                                  </m:sub>
                                </m:sSub>
                              </m:e>
                            </m:d>
                            <m:r>
                              <m:t xml:space="preserve">⇒</m:t>
                            </m:r>
                            <m:sSub>
                              <m:e>
                                <m:r>
                                  <m:t xml:space="preserve">K</m:t>
                                </m:r>
                              </m:e>
                              <m:sub>
                                <m:r>
                                  <m:t xml:space="preserve">m</m:t>
                                </m:r>
                              </m:sub>
                            </m:sSub>
                            <m:r>
                              <m:t xml:space="preserve">,</m:t>
                            </m:r>
                          </m:e>
                          <m:e>
                            <m:r>
                              <m:rPr>
                                <m:lit/>
                                <m:nor/>
                              </m:rPr>
                              <m:t xml:space="preserve">otherwise</m:t>
                            </m:r>
                            <m:r>
                              <m:t xml:space="preserve">⇒</m:t>
                            </m:r>
                            <m:sSub>
                              <m:e>
                                <m:r>
                                  <m:t xml:space="preserve">K</m:t>
                                </m:r>
                              </m:e>
                              <m:sub>
                                <m:r>
                                  <m:t xml:space="preserve">o</m:t>
                                </m:r>
                              </m:sub>
                            </m:sSub>
                          </m:e>
                        </m:eqArr>
                      </m:e>
                    </m:d>
                  </m:oMath>
                </a14:m>
              </a:p>
            </p:txBody>
          </p:sp>
        </mc:Choice>
        <mc:Fallback/>
      </mc:AlternateContent>
      <mc:AlternateContent>
        <mc:Choice xmlns:a14="http://schemas.microsoft.com/office/drawing/2010/main" Requires="a14">
          <p:sp>
            <p:nvSpPr>
              <p:cNvPr id="60" name="Formula 5"/>
              <p:cNvSpPr txBox="1"/>
              <p:nvPr/>
            </p:nvSpPr>
            <p:spPr>
              <a:xfrm>
                <a:off x="1189080" y="3840120"/>
                <a:ext cx="2703240" cy="1164960"/>
              </a:xfrm>
              <a:prstGeom prst="rect">
                <a:avLst/>
              </a:prstGeom>
            </p:spPr>
            <p:txBody>
              <a:bodyPr/>
              <a:p>
                <a14:m>
                  <m:oMath xmlns:m="http://schemas.openxmlformats.org/officeDocument/2006/math">
                    <m:eqArr>
                      <m:e>
                        <m:sSub>
                          <m:e>
                            <m:r>
                              <m:t xml:space="preserve">x</m:t>
                            </m:r>
                          </m:e>
                          <m:sub>
                            <m:r>
                              <m:t xml:space="preserve">1</m:t>
                            </m:r>
                          </m:sub>
                        </m:sSub>
                        <m:sSub>
                          <m:e>
                            <m:r>
                              <m:rPr>
                                <m:lit/>
                                <m:nor/>
                              </m:rPr>
                              <m:t xml:space="preserve">,x</m:t>
                            </m:r>
                          </m:e>
                          <m:sub>
                            <m:r>
                              <m:t xml:space="preserve">2</m:t>
                            </m:r>
                          </m:sub>
                        </m:sSub>
                        <m:r>
                          <m:t xml:space="preserve">,</m:t>
                        </m:r>
                        <m:r>
                          <m:rPr>
                            <m:lit/>
                            <m:nor/>
                          </m:rPr>
                          <m:t xml:space="preserve">.</m:t>
                        </m:r>
                        <m:r>
                          <m:rPr>
                            <m:lit/>
                            <m:nor/>
                          </m:rPr>
                          <m:t xml:space="preserve">.</m:t>
                        </m:r>
                        <m:r>
                          <m:rPr>
                            <m:lit/>
                            <m:nor/>
                          </m:rPr>
                          <m:t xml:space="preserve">.</m:t>
                        </m:r>
                        <m:sSub>
                          <m:e>
                            <m:r>
                              <m:t xml:space="preserve">x</m:t>
                            </m:r>
                          </m:e>
                          <m:sub>
                            <m:r>
                              <m:t xml:space="preserve">n</m:t>
                            </m:r>
                          </m:sub>
                        </m:sSub>
                        <m:r>
                          <m:t xml:space="preserve">∈</m:t>
                        </m:r>
                        <m:r>
                          <m:t xml:space="preserve">X</m:t>
                        </m:r>
                      </m:e>
                      <m:e>
                        <m:sSub>
                          <m:e>
                            <m:r>
                              <m:t xml:space="preserve">p</m:t>
                            </m:r>
                          </m:e>
                          <m:sub>
                            <m:r>
                              <m:t xml:space="preserve">s</m:t>
                            </m:r>
                          </m:sub>
                        </m:sSub>
                        <m:sSub>
                          <m:e>
                            <m:r>
                              <m:rPr>
                                <m:lit/>
                                <m:nor/>
                              </m:rPr>
                              <m:t xml:space="preserve">,p</m:t>
                            </m:r>
                          </m:e>
                          <m:sub>
                            <m:r>
                              <m:t xml:space="preserve">1</m:t>
                            </m:r>
                          </m:sub>
                        </m:sSub>
                        <m:sSub>
                          <m:e>
                            <m:r>
                              <m:rPr>
                                <m:lit/>
                                <m:nor/>
                              </m:rPr>
                              <m:t xml:space="preserve">,p</m:t>
                            </m:r>
                          </m:e>
                          <m:sub>
                            <m:r>
                              <m:t xml:space="preserve">2</m:t>
                            </m:r>
                          </m:sub>
                        </m:sSub>
                        <m:r>
                          <m:t xml:space="preserve">,</m:t>
                        </m:r>
                        <m:r>
                          <m:rPr>
                            <m:lit/>
                            <m:nor/>
                          </m:rPr>
                          <m:t xml:space="preserve">.</m:t>
                        </m:r>
                        <m:r>
                          <m:rPr>
                            <m:lit/>
                            <m:nor/>
                          </m:rPr>
                          <m:t xml:space="preserve">.</m:t>
                        </m:r>
                        <m:r>
                          <m:rPr>
                            <m:lit/>
                            <m:nor/>
                          </m:rPr>
                          <m:t xml:space="preserve">.</m:t>
                        </m:r>
                        <m:sSub>
                          <m:e>
                            <m:r>
                              <m:t xml:space="preserve">p</m:t>
                            </m:r>
                          </m:e>
                          <m:sub>
                            <m:r>
                              <m:t xml:space="preserve">m</m:t>
                            </m:r>
                          </m:sub>
                        </m:sSub>
                        <m:r>
                          <m:t xml:space="preserve">∈</m:t>
                        </m:r>
                        <m:d>
                          <m:dPr>
                            <m:begChr m:val="{"/>
                            <m:endChr m:val="}"/>
                          </m:dPr>
                          <m:e>
                            <m:r>
                              <m:rPr>
                                <m:lit/>
                                <m:nor/>
                              </m:rPr>
                              <m:t xml:space="preserve">T,F</m:t>
                            </m:r>
                          </m:e>
                        </m:d>
                      </m:e>
                      <m:e>
                        <m:r>
                          <m:t xml:space="preserve">p</m:t>
                        </m:r>
                        <m:r>
                          <m:t xml:space="preserve">:</m:t>
                        </m:r>
                        <m:r>
                          <m:t xml:space="preserve">X</m:t>
                        </m:r>
                        <m:r>
                          <m:t xml:space="preserve">→</m:t>
                        </m:r>
                        <m:d>
                          <m:dPr>
                            <m:begChr m:val="{"/>
                            <m:endChr m:val="}"/>
                          </m:dPr>
                          <m:e>
                            <m:r>
                              <m:rPr>
                                <m:lit/>
                                <m:nor/>
                              </m:rPr>
                              <m:t xml:space="preserve">T,F</m:t>
                            </m:r>
                          </m:e>
                        </m:d>
                      </m:e>
                      <m:e>
                        <m:r>
                          <m:rPr>
                            <m:lit/>
                            <m:nor/>
                          </m:rPr>
                          <m:t xml:space="preserve">otherwise=</m:t>
                        </m:r>
                        <m:r>
                          <m:t xml:space="preserve">¬</m:t>
                        </m:r>
                        <m:d>
                          <m:dPr>
                            <m:begChr m:val="("/>
                            <m:endChr m:val=")"/>
                          </m:dPr>
                          <m:e>
                            <m:sSub>
                              <m:e>
                                <m:r>
                                  <m:t xml:space="preserve">p</m:t>
                                </m:r>
                              </m:e>
                              <m:sub>
                                <m:r>
                                  <m:t xml:space="preserve">s</m:t>
                                </m:r>
                              </m:sub>
                            </m:sSub>
                            <m:r>
                              <m:t xml:space="preserve">∨</m:t>
                            </m:r>
                            <m:sSub>
                              <m:e>
                                <m:r>
                                  <m:t xml:space="preserve">p</m:t>
                                </m:r>
                              </m:e>
                              <m:sub>
                                <m:r>
                                  <m:t xml:space="preserve">1</m:t>
                                </m:r>
                              </m:sub>
                            </m:sSub>
                            <m:r>
                              <m:t xml:space="preserve">∨</m:t>
                            </m:r>
                            <m:sSub>
                              <m:e>
                                <m:r>
                                  <m:t xml:space="preserve">p</m:t>
                                </m:r>
                              </m:e>
                              <m:sub>
                                <m:r>
                                  <m:t xml:space="preserve">2</m:t>
                                </m:r>
                              </m:sub>
                            </m:sSub>
                            <m:r>
                              <m:t xml:space="preserve">∨</m:t>
                            </m:r>
                            <m:r>
                              <m:t xml:space="preserve">⋯</m:t>
                            </m:r>
                            <m:r>
                              <m:t xml:space="preserve">∨</m:t>
                            </m:r>
                            <m:sSub>
                              <m:e>
                                <m:r>
                                  <m:t xml:space="preserve">p</m:t>
                                </m:r>
                              </m:e>
                              <m:sub>
                                <m:r>
                                  <m:t xml:space="preserve">m</m:t>
                                </m:r>
                              </m:sub>
                            </m:sSub>
                          </m:e>
                        </m:d>
                        <m:r>
                          <m:t xml:space="preserve">∈</m:t>
                        </m:r>
                        <m:d>
                          <m:dPr>
                            <m:begChr m:val="{"/>
                            <m:endChr m:val="}"/>
                          </m:dPr>
                          <m:e>
                            <m:r>
                              <m:rPr>
                                <m:lit/>
                                <m:nor/>
                              </m:rPr>
                              <m:t xml:space="preserve">T,F</m:t>
                            </m:r>
                          </m:e>
                        </m:d>
                      </m:e>
                      <m:e>
                        <m:sSub>
                          <m:e>
                            <m:r>
                              <m:t xml:space="preserve">K</m:t>
                            </m:r>
                          </m:e>
                          <m:sub>
                            <m:r>
                              <m:t xml:space="preserve">o</m:t>
                            </m:r>
                          </m:sub>
                        </m:sSub>
                        <m:sSub>
                          <m:e>
                            <m:r>
                              <m:rPr>
                                <m:lit/>
                                <m:nor/>
                              </m:rPr>
                              <m:t xml:space="preserve">,K</m:t>
                            </m:r>
                          </m:e>
                          <m:sub>
                            <m:r>
                              <m:t xml:space="preserve">1</m:t>
                            </m:r>
                          </m:sub>
                        </m:sSub>
                        <m:sSub>
                          <m:e>
                            <m:r>
                              <m:rPr>
                                <m:lit/>
                                <m:nor/>
                              </m:rPr>
                              <m:t xml:space="preserve">,K</m:t>
                            </m:r>
                          </m:e>
                          <m:sub>
                            <m:r>
                              <m:t xml:space="preserve">2</m:t>
                            </m:r>
                          </m:sub>
                        </m:sSub>
                        <m:r>
                          <m:t xml:space="preserve">,</m:t>
                        </m:r>
                        <m:r>
                          <m:rPr>
                            <m:lit/>
                            <m:nor/>
                          </m:rPr>
                          <m:t xml:space="preserve">.</m:t>
                        </m:r>
                        <m:r>
                          <m:rPr>
                            <m:lit/>
                            <m:nor/>
                          </m:rPr>
                          <m:t xml:space="preserve">.</m:t>
                        </m:r>
                        <m:r>
                          <m:rPr>
                            <m:lit/>
                            <m:nor/>
                          </m:rPr>
                          <m:t xml:space="preserve">.</m:t>
                        </m:r>
                        <m:sSub>
                          <m:e>
                            <m:r>
                              <m:t xml:space="preserve">K</m:t>
                            </m:r>
                          </m:e>
                          <m:sub>
                            <m:r>
                              <m:t xml:space="preserve">m</m:t>
                            </m:r>
                          </m:sub>
                        </m:sSub>
                        <m:r>
                          <m:t xml:space="preserve">⊆</m:t>
                        </m:r>
                        <m:r>
                          <m:t xml:space="preserve">K</m:t>
                        </m:r>
                      </m:e>
                      <m:e>
                        <m:r>
                          <m:t xml:space="preserve">c</m:t>
                        </m:r>
                        <m:r>
                          <m:t xml:space="preserve">:</m:t>
                        </m:r>
                        <m:r>
                          <m:t xml:space="preserve">X</m:t>
                        </m:r>
                        <m:r>
                          <m:t xml:space="preserve">→</m:t>
                        </m:r>
                        <m:r>
                          <m:t xml:space="preserve">K</m:t>
                        </m:r>
                      </m:e>
                    </m:eqArr>
                  </m:oMath>
                </a14:m>
              </a:p>
            </p:txBody>
          </p:sp>
        </mc:Choice>
        <mc:Fallback/>
      </mc:AlternateContent>
      <p:sp>
        <p:nvSpPr>
          <p:cNvPr id="61" name="CustomShape 6"/>
          <p:cNvSpPr/>
          <p:nvPr/>
        </p:nvSpPr>
        <p:spPr>
          <a:xfrm>
            <a:off x="4572000" y="2103480"/>
            <a:ext cx="6675120" cy="351576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6520" bIns="45000"/>
          <a:p>
            <a:r>
              <a:rPr b="0" lang="en-US" sz="1800" spc="-1" strike="noStrike">
                <a:solidFill>
                  <a:srgbClr val="000000"/>
                </a:solidFill>
                <a:uFill>
                  <a:solidFill>
                    <a:srgbClr val="ffffff"/>
                  </a:solidFill>
                </a:uFill>
                <a:latin typeface="Times New Roman"/>
                <a:ea typeface="DejaVu Sans"/>
              </a:rPr>
              <a:t>    </a:t>
            </a:r>
            <a:r>
              <a:rPr b="0" lang="en-US" sz="1800" spc="-1" strike="noStrike">
                <a:solidFill>
                  <a:srgbClr val="000000"/>
                </a:solidFill>
                <a:uFill>
                  <a:solidFill>
                    <a:srgbClr val="ffffff"/>
                  </a:solidFill>
                </a:uFill>
                <a:latin typeface="Times New Roman"/>
                <a:ea typeface="DejaVu Sans"/>
              </a:rPr>
              <a:t>is the alphabet of arbitrary variables.</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Times New Roman"/>
                <a:ea typeface="DejaVu Sans"/>
              </a:rPr>
              <a:t>    </a:t>
            </a:r>
            <a:r>
              <a:rPr b="0" lang="en-US" sz="1800" spc="-1" strike="noStrike">
                <a:solidFill>
                  <a:srgbClr val="000000"/>
                </a:solidFill>
                <a:uFill>
                  <a:solidFill>
                    <a:srgbClr val="ffffff"/>
                  </a:solidFill>
                </a:uFill>
                <a:latin typeface="Times New Roman"/>
                <a:ea typeface="DejaVu Sans"/>
              </a:rPr>
              <a:t>are elements of the alphabet, or symbols.</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Times New Roman"/>
                <a:ea typeface="DejaVu Sans"/>
              </a:rPr>
              <a:t>    </a:t>
            </a:r>
            <a:r>
              <a:rPr b="0" lang="en-US" sz="1800" spc="-1" strike="noStrike">
                <a:solidFill>
                  <a:srgbClr val="000000"/>
                </a:solidFill>
                <a:uFill>
                  <a:solidFill>
                    <a:srgbClr val="ffffff"/>
                  </a:solidFill>
                </a:uFill>
                <a:latin typeface="Times New Roman"/>
                <a:ea typeface="DejaVu Sans"/>
              </a:rPr>
              <a:t>are predicate functions that translate the set of arbitrary variables into the set of truthfulness.</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Times New Roman"/>
                <a:ea typeface="DejaVu Sans"/>
              </a:rPr>
              <a:t>    </a:t>
            </a:r>
            <a:r>
              <a:rPr b="0" lang="en-US" sz="1800" spc="-1" strike="noStrike">
                <a:solidFill>
                  <a:srgbClr val="000000"/>
                </a:solidFill>
                <a:uFill>
                  <a:solidFill>
                    <a:srgbClr val="ffffff"/>
                  </a:solidFill>
                </a:uFill>
                <a:latin typeface="Times New Roman"/>
                <a:ea typeface="DejaVu Sans"/>
              </a:rPr>
              <a:t>is the negation of disjuntion of all predicate functions.</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Times New Roman"/>
                <a:ea typeface="DejaVu Sans"/>
              </a:rPr>
              <a:t>    </a:t>
            </a:r>
            <a:r>
              <a:rPr b="0" lang="en-US" sz="1800" spc="-1" strike="noStrike">
                <a:solidFill>
                  <a:srgbClr val="000000"/>
                </a:solidFill>
                <a:uFill>
                  <a:solidFill>
                    <a:srgbClr val="ffffff"/>
                  </a:solidFill>
                </a:uFill>
                <a:latin typeface="Times New Roman"/>
                <a:ea typeface="DejaVu Sans"/>
              </a:rPr>
              <a:t>is the superclass.</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Times New Roman"/>
                <a:ea typeface="DejaVu Sans"/>
              </a:rPr>
              <a:t>    </a:t>
            </a:r>
            <a:r>
              <a:rPr b="0" lang="en-US" sz="1800" spc="-1" strike="noStrike">
                <a:solidFill>
                  <a:srgbClr val="000000"/>
                </a:solidFill>
                <a:uFill>
                  <a:solidFill>
                    <a:srgbClr val="ffffff"/>
                  </a:solidFill>
                </a:uFill>
                <a:latin typeface="Times New Roman"/>
                <a:ea typeface="DejaVu Sans"/>
              </a:rPr>
              <a:t>are the subclasses.</a:t>
            </a:r>
            <a:endParaRPr b="0" lang="en-US" sz="1800" spc="-1" strike="noStrike">
              <a:solidFill>
                <a:srgbClr val="000000"/>
              </a:solidFill>
              <a:uFill>
                <a:solidFill>
                  <a:srgbClr val="ffffff"/>
                </a:solidFill>
              </a:uFill>
              <a:latin typeface="Arial"/>
            </a:endParaRPr>
          </a:p>
          <a:p>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Times New Roman"/>
                <a:ea typeface="DejaVu Sans"/>
              </a:rPr>
              <a:t>    </a:t>
            </a:r>
            <a:r>
              <a:rPr b="0" lang="en-US" sz="1800" spc="-1" strike="noStrike">
                <a:solidFill>
                  <a:srgbClr val="000000"/>
                </a:solidFill>
                <a:uFill>
                  <a:solidFill>
                    <a:srgbClr val="ffffff"/>
                  </a:solidFill>
                </a:uFill>
                <a:latin typeface="Times New Roman"/>
                <a:ea typeface="DejaVu Sans"/>
              </a:rPr>
              <a:t>is a relation that represents </a:t>
            </a:r>
            <a:r>
              <a:rPr b="0" i="1" lang="en-US" sz="1800" spc="-1" strike="noStrike">
                <a:solidFill>
                  <a:srgbClr val="000000"/>
                </a:solidFill>
                <a:uFill>
                  <a:solidFill>
                    <a:srgbClr val="ffffff"/>
                  </a:solidFill>
                </a:uFill>
                <a:latin typeface="Times New Roman"/>
                <a:ea typeface="DejaVu Sans"/>
              </a:rPr>
              <a:t>"Km is a subtype of K"</a:t>
            </a:r>
            <a:r>
              <a:rPr b="0" lang="en-US" sz="1800" spc="-1" strike="noStrike">
                <a:solidFill>
                  <a:srgbClr val="000000"/>
                </a:solidFill>
                <a:uFill>
                  <a:solidFill>
                    <a:srgbClr val="ffffff"/>
                  </a:solidFill>
                </a:uFill>
                <a:latin typeface="Times New Roman"/>
                <a:ea typeface="DejaVu Sans"/>
              </a:rPr>
              <a:t>.</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Times New Roman"/>
                <a:ea typeface="DejaVu Sans"/>
              </a:rPr>
              <a:t>    </a:t>
            </a:r>
            <a:r>
              <a:rPr b="0" lang="en-US" sz="1800" spc="-1" strike="noStrike">
                <a:solidFill>
                  <a:srgbClr val="000000"/>
                </a:solidFill>
                <a:uFill>
                  <a:solidFill>
                    <a:srgbClr val="ffffff"/>
                  </a:solidFill>
                </a:uFill>
                <a:latin typeface="Times New Roman"/>
                <a:ea typeface="DejaVu Sans"/>
              </a:rPr>
              <a:t>is the super-cause.</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Times New Roman"/>
                <a:ea typeface="DejaVu Sans"/>
              </a:rPr>
              <a:t>   </a:t>
            </a:r>
            <a:endParaRPr b="0" lang="en-US" sz="1800" spc="-1" strike="noStrike">
              <a:solidFill>
                <a:srgbClr val="000000"/>
              </a:solidFill>
              <a:uFill>
                <a:solidFill>
                  <a:srgbClr val="ffffff"/>
                </a:solidFill>
              </a:uFill>
              <a:latin typeface="Arial"/>
            </a:endParaRPr>
          </a:p>
        </p:txBody>
      </p:sp>
      <mc:AlternateContent>
        <mc:Choice xmlns:a14="http://schemas.microsoft.com/office/drawing/2010/main" Requires="a14">
          <p:sp>
            <p:nvSpPr>
              <p:cNvPr id="62" name="Formula 7"/>
              <p:cNvSpPr txBox="1"/>
              <p:nvPr/>
            </p:nvSpPr>
            <p:spPr>
              <a:xfrm>
                <a:off x="4578480" y="2209680"/>
                <a:ext cx="188280" cy="168120"/>
              </a:xfrm>
              <a:prstGeom prst="rect">
                <a:avLst/>
              </a:prstGeom>
            </p:spPr>
            <p:txBody>
              <a:bodyPr/>
              <a:p>
                <a14:m>
                  <m:oMath xmlns:m="http://schemas.openxmlformats.org/officeDocument/2006/math">
                    <m:r>
                      <m:t xml:space="preserve">X</m:t>
                    </m:r>
                  </m:oMath>
                </a14:m>
              </a:p>
            </p:txBody>
          </p:sp>
        </mc:Choice>
        <mc:Fallback/>
      </mc:AlternateContent>
      <mc:AlternateContent>
        <mc:Choice xmlns:a14="http://schemas.microsoft.com/office/drawing/2010/main" Requires="a14">
          <p:sp>
            <p:nvSpPr>
              <p:cNvPr id="63" name="Formula 8"/>
              <p:cNvSpPr txBox="1"/>
              <p:nvPr/>
            </p:nvSpPr>
            <p:spPr>
              <a:xfrm>
                <a:off x="4113360" y="2560680"/>
                <a:ext cx="731160" cy="190080"/>
              </a:xfrm>
              <a:prstGeom prst="rect">
                <a:avLst/>
              </a:prstGeom>
            </p:spPr>
            <p:txBody>
              <a:bodyPr/>
              <a:p>
                <a14:m>
                  <m:oMath xmlns:m="http://schemas.openxmlformats.org/officeDocument/2006/math">
                    <m:sSub>
                      <m:e>
                        <m:r>
                          <m:t xml:space="preserve">x</m:t>
                        </m:r>
                      </m:e>
                      <m:sub>
                        <m:r>
                          <m:t xml:space="preserve">1</m:t>
                        </m:r>
                      </m:sub>
                    </m:sSub>
                    <m:sSub>
                      <m:e>
                        <m:r>
                          <m:rPr>
                            <m:lit/>
                            <m:nor/>
                          </m:rPr>
                          <m:t xml:space="preserve">,x</m:t>
                        </m:r>
                      </m:e>
                      <m:sub>
                        <m:r>
                          <m:t xml:space="preserve">2</m:t>
                        </m:r>
                      </m:sub>
                    </m:sSub>
                    <m:r>
                      <m:t xml:space="preserve">,</m:t>
                    </m:r>
                    <m:r>
                      <m:rPr>
                        <m:lit/>
                        <m:nor/>
                      </m:rPr>
                      <m:t xml:space="preserve">.</m:t>
                    </m:r>
                    <m:r>
                      <m:rPr>
                        <m:lit/>
                        <m:nor/>
                      </m:rPr>
                      <m:t xml:space="preserve">.</m:t>
                    </m:r>
                    <m:r>
                      <m:rPr>
                        <m:lit/>
                        <m:nor/>
                      </m:rPr>
                      <m:t xml:space="preserve">.</m:t>
                    </m:r>
                    <m:sSub>
                      <m:e>
                        <m:r>
                          <m:t xml:space="preserve">x</m:t>
                        </m:r>
                      </m:e>
                      <m:sub>
                        <m:r>
                          <m:t xml:space="preserve">n</m:t>
                        </m:r>
                      </m:sub>
                    </m:sSub>
                  </m:oMath>
                </a14:m>
              </a:p>
            </p:txBody>
          </p:sp>
        </mc:Choice>
        <mc:Fallback/>
      </mc:AlternateContent>
      <mc:AlternateContent>
        <mc:Choice xmlns:a14="http://schemas.microsoft.com/office/drawing/2010/main" Requires="a14">
          <p:sp>
            <p:nvSpPr>
              <p:cNvPr id="64" name="Formula 9"/>
              <p:cNvSpPr txBox="1"/>
              <p:nvPr/>
            </p:nvSpPr>
            <p:spPr>
              <a:xfrm>
                <a:off x="4022640" y="2835360"/>
                <a:ext cx="788760" cy="190080"/>
              </a:xfrm>
              <a:prstGeom prst="rect">
                <a:avLst/>
              </a:prstGeom>
            </p:spPr>
            <p:txBody>
              <a:bodyPr/>
              <a:p>
                <a14:m>
                  <m:oMath xmlns:m="http://schemas.openxmlformats.org/officeDocument/2006/math">
                    <m:sSub>
                      <m:e>
                        <m:r>
                          <m:t xml:space="preserve">p</m:t>
                        </m:r>
                      </m:e>
                      <m:sub>
                        <m:r>
                          <m:t xml:space="preserve">1</m:t>
                        </m:r>
                      </m:sub>
                    </m:sSub>
                    <m:sSub>
                      <m:e>
                        <m:r>
                          <m:rPr>
                            <m:lit/>
                            <m:nor/>
                          </m:rPr>
                          <m:t xml:space="preserve">,p</m:t>
                        </m:r>
                      </m:e>
                      <m:sub>
                        <m:r>
                          <m:t xml:space="preserve">2</m:t>
                        </m:r>
                      </m:sub>
                    </m:sSub>
                    <m:r>
                      <m:t xml:space="preserve">,</m:t>
                    </m:r>
                    <m:r>
                      <m:rPr>
                        <m:lit/>
                        <m:nor/>
                      </m:rPr>
                      <m:t xml:space="preserve">.</m:t>
                    </m:r>
                    <m:r>
                      <m:rPr>
                        <m:lit/>
                        <m:nor/>
                      </m:rPr>
                      <m:t xml:space="preserve">.</m:t>
                    </m:r>
                    <m:r>
                      <m:rPr>
                        <m:lit/>
                        <m:nor/>
                      </m:rPr>
                      <m:t xml:space="preserve">.</m:t>
                    </m:r>
                    <m:sSub>
                      <m:e>
                        <m:r>
                          <m:t xml:space="preserve">p</m:t>
                        </m:r>
                      </m:e>
                      <m:sub>
                        <m:r>
                          <m:t xml:space="preserve">m</m:t>
                        </m:r>
                      </m:sub>
                    </m:sSub>
                  </m:oMath>
                </a14:m>
              </a:p>
            </p:txBody>
          </p:sp>
        </mc:Choice>
        <mc:Fallback/>
      </mc:AlternateContent>
      <mc:AlternateContent>
        <mc:Choice xmlns:a14="http://schemas.microsoft.com/office/drawing/2010/main" Requires="a14">
          <p:sp>
            <p:nvSpPr>
              <p:cNvPr id="65" name="Formula 10"/>
              <p:cNvSpPr txBox="1"/>
              <p:nvPr/>
            </p:nvSpPr>
            <p:spPr>
              <a:xfrm>
                <a:off x="4084560" y="3398760"/>
                <a:ext cx="669600" cy="168120"/>
              </a:xfrm>
              <a:prstGeom prst="rect">
                <a:avLst/>
              </a:prstGeom>
            </p:spPr>
            <p:txBody>
              <a:bodyPr/>
              <a:p>
                <a14:m>
                  <m:oMath xmlns:m="http://schemas.openxmlformats.org/officeDocument/2006/math">
                    <m:r>
                      <m:rPr>
                        <m:lit/>
                        <m:nor/>
                      </m:rPr>
                      <m:t xml:space="preserve">otherwise</m:t>
                    </m:r>
                  </m:oMath>
                </a14:m>
              </a:p>
            </p:txBody>
          </p:sp>
        </mc:Choice>
        <mc:Fallback/>
      </mc:AlternateContent>
      <mc:AlternateContent>
        <mc:Choice xmlns:a14="http://schemas.microsoft.com/office/drawing/2010/main" Requires="a14">
          <p:sp>
            <p:nvSpPr>
              <p:cNvPr id="66" name="Formula 11"/>
              <p:cNvSpPr txBox="1"/>
              <p:nvPr/>
            </p:nvSpPr>
            <p:spPr>
              <a:xfrm>
                <a:off x="4494240" y="3673440"/>
                <a:ext cx="196560" cy="168120"/>
              </a:xfrm>
              <a:prstGeom prst="rect">
                <a:avLst/>
              </a:prstGeom>
            </p:spPr>
            <p:txBody>
              <a:bodyPr/>
              <a:p>
                <a14:m>
                  <m:oMath xmlns:m="http://schemas.openxmlformats.org/officeDocument/2006/math">
                    <m:r>
                      <m:t xml:space="preserve">K</m:t>
                    </m:r>
                  </m:oMath>
                </a14:m>
              </a:p>
            </p:txBody>
          </p:sp>
        </mc:Choice>
        <mc:Fallback/>
      </mc:AlternateContent>
      <mc:AlternateContent>
        <mc:Choice xmlns:a14="http://schemas.microsoft.com/office/drawing/2010/main" Requires="a14">
          <p:sp>
            <p:nvSpPr>
              <p:cNvPr id="67" name="Formula 12"/>
              <p:cNvSpPr txBox="1"/>
              <p:nvPr/>
            </p:nvSpPr>
            <p:spPr>
              <a:xfrm>
                <a:off x="3657600" y="3924720"/>
                <a:ext cx="1121760" cy="190080"/>
              </a:xfrm>
              <a:prstGeom prst="rect">
                <a:avLst/>
              </a:prstGeom>
            </p:spPr>
            <p:txBody>
              <a:bodyPr/>
              <a:p>
                <a14:m>
                  <m:oMath xmlns:m="http://schemas.openxmlformats.org/officeDocument/2006/math">
                    <m:sSub>
                      <m:e>
                        <m:r>
                          <m:t xml:space="preserve">K</m:t>
                        </m:r>
                      </m:e>
                      <m:sub>
                        <m:r>
                          <m:t xml:space="preserve">o</m:t>
                        </m:r>
                      </m:sub>
                    </m:sSub>
                    <m:sSub>
                      <m:e>
                        <m:r>
                          <m:rPr>
                            <m:lit/>
                            <m:nor/>
                          </m:rPr>
                          <m:t xml:space="preserve">,K</m:t>
                        </m:r>
                      </m:e>
                      <m:sub>
                        <m:r>
                          <m:t xml:space="preserve">1</m:t>
                        </m:r>
                      </m:sub>
                    </m:sSub>
                    <m:sSub>
                      <m:e>
                        <m:r>
                          <m:rPr>
                            <m:lit/>
                            <m:nor/>
                          </m:rPr>
                          <m:t xml:space="preserve">,K</m:t>
                        </m:r>
                      </m:e>
                      <m:sub>
                        <m:r>
                          <m:t xml:space="preserve">2</m:t>
                        </m:r>
                      </m:sub>
                    </m:sSub>
                    <m:r>
                      <m:t xml:space="preserve">,</m:t>
                    </m:r>
                    <m:r>
                      <m:rPr>
                        <m:lit/>
                        <m:nor/>
                      </m:rPr>
                      <m:t xml:space="preserve">.</m:t>
                    </m:r>
                    <m:r>
                      <m:rPr>
                        <m:lit/>
                        <m:nor/>
                      </m:rPr>
                      <m:t xml:space="preserve">.</m:t>
                    </m:r>
                    <m:r>
                      <m:rPr>
                        <m:lit/>
                        <m:nor/>
                      </m:rPr>
                      <m:t xml:space="preserve">.</m:t>
                    </m:r>
                    <m:sSub>
                      <m:e>
                        <m:r>
                          <m:t xml:space="preserve">K</m:t>
                        </m:r>
                      </m:e>
                      <m:sub>
                        <m:r>
                          <m:t xml:space="preserve">m</m:t>
                        </m:r>
                      </m:sub>
                    </m:sSub>
                  </m:oMath>
                </a14:m>
              </a:p>
            </p:txBody>
          </p:sp>
        </mc:Choice>
        <mc:Fallback/>
      </mc:AlternateContent>
      <mc:AlternateContent>
        <mc:Choice xmlns:a14="http://schemas.microsoft.com/office/drawing/2010/main" Requires="a14">
          <p:sp>
            <p:nvSpPr>
              <p:cNvPr id="68" name="Formula 13"/>
              <p:cNvSpPr txBox="1"/>
              <p:nvPr/>
            </p:nvSpPr>
            <p:spPr>
              <a:xfrm>
                <a:off x="4297680" y="4473360"/>
                <a:ext cx="509400" cy="190080"/>
              </a:xfrm>
              <a:prstGeom prst="rect">
                <a:avLst/>
              </a:prstGeom>
            </p:spPr>
            <p:txBody>
              <a:bodyPr/>
              <a:p>
                <a14:m>
                  <m:oMath xmlns:m="http://schemas.openxmlformats.org/officeDocument/2006/math">
                    <m:sSub>
                      <m:e>
                        <m:r>
                          <m:t xml:space="preserve">K</m:t>
                        </m:r>
                      </m:e>
                      <m:sub>
                        <m:r>
                          <m:t xml:space="preserve">m</m:t>
                        </m:r>
                      </m:sub>
                    </m:sSub>
                    <m:r>
                      <m:t xml:space="preserve">⊆</m:t>
                    </m:r>
                    <m:r>
                      <m:t xml:space="preserve">K</m:t>
                    </m:r>
                  </m:oMath>
                </a14:m>
              </a:p>
            </p:txBody>
          </p:sp>
        </mc:Choice>
        <mc:Fallback/>
      </mc:AlternateContent>
      <mc:AlternateContent>
        <mc:Choice xmlns:a14="http://schemas.microsoft.com/office/drawing/2010/main" Requires="a14">
          <p:sp>
            <p:nvSpPr>
              <p:cNvPr id="69" name="Formula 14"/>
              <p:cNvSpPr txBox="1"/>
              <p:nvPr/>
            </p:nvSpPr>
            <p:spPr>
              <a:xfrm>
                <a:off x="4480560" y="4754880"/>
                <a:ext cx="207720" cy="190080"/>
              </a:xfrm>
              <a:prstGeom prst="rect">
                <a:avLst/>
              </a:prstGeom>
            </p:spPr>
            <p:txBody>
              <a:bodyPr/>
              <a:p>
                <a14:m>
                  <m:oMath xmlns:m="http://schemas.openxmlformats.org/officeDocument/2006/math">
                    <m:sSub>
                      <m:e>
                        <m:r>
                          <m:t xml:space="preserve">p</m:t>
                        </m:r>
                      </m:e>
                      <m:sub>
                        <m:r>
                          <m:t xml:space="preserve">s</m:t>
                        </m:r>
                      </m:sub>
                    </m:sSub>
                  </m:oMath>
                </a14:m>
              </a:p>
            </p:txBody>
          </p:sp>
        </mc:Choice>
        <mc:Fallback/>
      </mc:AlternateContent>
    </p:spTree>
  </p:cSld>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3. PREDICATE CLASSES</a:t>
            </a:r>
            <a:endParaRPr b="0" lang="en-US" sz="1800" spc="-1" strike="noStrike">
              <a:solidFill>
                <a:srgbClr val="000000"/>
              </a:solidFill>
              <a:uFill>
                <a:solidFill>
                  <a:srgbClr val="ffffff"/>
                </a:solidFill>
              </a:uFill>
              <a:latin typeface="Arial"/>
            </a:endParaRPr>
          </a:p>
        </p:txBody>
      </p:sp>
      <p:sp>
        <p:nvSpPr>
          <p:cNvPr id="71"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lnSpc>
                <a:spcPct val="100000"/>
              </a:lnSpc>
            </a:pPr>
            <a:endParaRPr b="0" lang="en-US" sz="1800" spc="-1" strike="noStrike">
              <a:solidFill>
                <a:srgbClr val="000000"/>
              </a:solidFill>
              <a:uFill>
                <a:solidFill>
                  <a:srgbClr val="ffffff"/>
                </a:solidFill>
              </a:uFill>
              <a:latin typeface="Arial"/>
            </a:endParaRPr>
          </a:p>
          <a:p>
            <a:pPr marL="152280">
              <a:lnSpc>
                <a:spcPct val="115000"/>
              </a:lnSpc>
            </a:pPr>
            <a:endParaRPr b="0" lang="en-US" sz="1800" spc="-1" strike="noStrike">
              <a:solidFill>
                <a:srgbClr val="000000"/>
              </a:solidFill>
              <a:uFill>
                <a:solidFill>
                  <a:srgbClr val="ffffff"/>
                </a:solidFill>
              </a:uFill>
              <a:latin typeface="Arial"/>
            </a:endParaRPr>
          </a:p>
        </p:txBody>
      </p:sp>
      <p:sp>
        <p:nvSpPr>
          <p:cNvPr id="72"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84F26AC8-9942-4D8F-95B5-161E3A2A8069}"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pic>
        <p:nvPicPr>
          <p:cNvPr id="73" name="" descr=""/>
          <p:cNvPicPr/>
          <p:nvPr/>
        </p:nvPicPr>
        <p:blipFill>
          <a:blip r:embed="rId1"/>
          <a:stretch/>
        </p:blipFill>
        <p:spPr>
          <a:xfrm>
            <a:off x="1382760" y="1817640"/>
            <a:ext cx="4743000" cy="4582800"/>
          </a:xfrm>
          <a:prstGeom prst="rect">
            <a:avLst/>
          </a:prstGeom>
          <a:ln>
            <a:noFill/>
          </a:ln>
        </p:spPr>
      </p:pic>
      <p:sp>
        <p:nvSpPr>
          <p:cNvPr id="74" name="CustomShape 4"/>
          <p:cNvSpPr/>
          <p:nvPr/>
        </p:nvSpPr>
        <p:spPr>
          <a:xfrm>
            <a:off x="6858000" y="2103480"/>
            <a:ext cx="4114440" cy="29556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gn="just"/>
            <a:r>
              <a:rPr b="0" lang="en-US" sz="2000" spc="-1" strike="noStrike">
                <a:solidFill>
                  <a:srgbClr val="000000"/>
                </a:solidFill>
                <a:uFill>
                  <a:solidFill>
                    <a:srgbClr val="ffffff"/>
                  </a:solidFill>
                </a:uFill>
                <a:latin typeface="Times New Roman"/>
                <a:ea typeface="Microsoft YaHei"/>
              </a:rPr>
              <a:t>The bases of the predicate class packet is the Predicate interface, which consists of two methods: test and flattened. The test method is an important method that returns a boolean value for some predicate. Flattened method is a method that returns the stream of predicates since some predicate implementations contain multiple predicates.</a:t>
            </a:r>
            <a:endParaRPr b="0" lang="en-US" sz="1800" spc="-1" strike="noStrike">
              <a:solidFill>
                <a:srgbClr val="000000"/>
              </a:solidFill>
              <a:uFill>
                <a:solidFill>
                  <a:srgbClr val="ffffff"/>
                </a:solidFill>
              </a:uFill>
              <a:latin typeface="Arial"/>
            </a:endParaRPr>
          </a:p>
        </p:txBody>
      </p:sp>
    </p:spTree>
  </p:cSld>
  <p:timing>
    <p:tnLst>
      <p:par>
        <p:cTn id="11" dur="indefinite" restart="never" nodeType="tmRoot">
          <p:childTnLst>
            <p:seq>
              <p:cTn id="12"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3. PREDICATE CLASSES</a:t>
            </a:r>
            <a:endParaRPr b="0" lang="en-US" sz="1800" spc="-1" strike="noStrike">
              <a:solidFill>
                <a:srgbClr val="000000"/>
              </a:solidFill>
              <a:uFill>
                <a:solidFill>
                  <a:srgbClr val="ffffff"/>
                </a:solidFill>
              </a:uFill>
              <a:latin typeface="Arial"/>
            </a:endParaRPr>
          </a:p>
        </p:txBody>
      </p:sp>
      <p:sp>
        <p:nvSpPr>
          <p:cNvPr id="76"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nSpc>
                <a:spcPct val="100000"/>
              </a:lnSpc>
            </a:pPr>
            <a:r>
              <a:rPr b="0" lang="en-US" sz="1800" spc="-1" strike="noStrike">
                <a:solidFill>
                  <a:srgbClr val="000000"/>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100000"/>
              </a:lnSpc>
            </a:pPr>
            <a:r>
              <a:rPr b="0" lang="en-US" sz="1800" spc="-1" strike="noStrike">
                <a:solidFill>
                  <a:srgbClr val="a9b7c6"/>
                </a:solidFill>
                <a:uFill>
                  <a:solidFill>
                    <a:srgbClr val="ffffff"/>
                  </a:solidFill>
                </a:uFill>
                <a:latin typeface="Courier New"/>
                <a:ea typeface="DejaVu Sans"/>
              </a:rPr>
              <a:t>  </a:t>
            </a:r>
            <a:r>
              <a:rPr b="0" lang="en-US" sz="1800" spc="-1" strike="noStrike">
                <a:solidFill>
                  <a:srgbClr val="9876aa"/>
                </a:solidFill>
                <a:uFill>
                  <a:solidFill>
                    <a:srgbClr val="ffffff"/>
                  </a:solidFill>
                </a:uFill>
                <a:latin typeface="Courier New"/>
                <a:ea typeface="DejaVu Sans"/>
              </a:rPr>
              <a:t>"type"</a:t>
            </a: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6a8759"/>
                </a:solidFill>
                <a:uFill>
                  <a:solidFill>
                    <a:srgbClr val="ffffff"/>
                  </a:solidFill>
                </a:uFill>
                <a:latin typeface="Courier New"/>
                <a:ea typeface="DejaVu Sans"/>
              </a:rPr>
              <a:t>"cond"</a:t>
            </a:r>
            <a:r>
              <a:rPr b="0" lang="en-US" sz="18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100000"/>
              </a:lnSpc>
            </a:pP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9876aa"/>
                </a:solidFill>
                <a:uFill>
                  <a:solidFill>
                    <a:srgbClr val="ffffff"/>
                  </a:solidFill>
                </a:uFill>
                <a:latin typeface="Courier New"/>
                <a:ea typeface="DejaVu Sans"/>
              </a:rPr>
              <a:t>"key"</a:t>
            </a: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6a8759"/>
                </a:solidFill>
                <a:uFill>
                  <a:solidFill>
                    <a:srgbClr val="ffffff"/>
                  </a:solidFill>
                </a:uFill>
                <a:latin typeface="Courier New"/>
                <a:ea typeface="DejaVu Sans"/>
              </a:rPr>
              <a:t>"b"</a:t>
            </a:r>
            <a:r>
              <a:rPr b="0" lang="en-US" sz="18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100000"/>
              </a:lnSpc>
            </a:pP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9876aa"/>
                </a:solidFill>
                <a:uFill>
                  <a:solidFill>
                    <a:srgbClr val="ffffff"/>
                  </a:solidFill>
                </a:uFill>
                <a:latin typeface="Courier New"/>
                <a:ea typeface="DejaVu Sans"/>
              </a:rPr>
              <a:t>"matcher"</a:t>
            </a: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100000"/>
              </a:lnSpc>
            </a:pPr>
            <a:r>
              <a:rPr b="0" lang="en-US" sz="1800" spc="-1" strike="noStrike">
                <a:solidFill>
                  <a:srgbClr val="a9b7c6"/>
                </a:solidFill>
                <a:uFill>
                  <a:solidFill>
                    <a:srgbClr val="ffffff"/>
                  </a:solidFill>
                </a:uFill>
                <a:latin typeface="Courier New"/>
                <a:ea typeface="DejaVu Sans"/>
              </a:rPr>
              <a:t>    </a:t>
            </a:r>
            <a:r>
              <a:rPr b="0" lang="en-US" sz="1800" spc="-1" strike="noStrike">
                <a:solidFill>
                  <a:srgbClr val="9876aa"/>
                </a:solidFill>
                <a:uFill>
                  <a:solidFill>
                    <a:srgbClr val="ffffff"/>
                  </a:solidFill>
                </a:uFill>
                <a:latin typeface="Courier New"/>
                <a:ea typeface="DejaVu Sans"/>
              </a:rPr>
              <a:t>"type"</a:t>
            </a: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6a8759"/>
                </a:solidFill>
                <a:uFill>
                  <a:solidFill>
                    <a:srgbClr val="ffffff"/>
                  </a:solidFill>
                </a:uFill>
                <a:latin typeface="Courier New"/>
                <a:ea typeface="DejaVu Sans"/>
              </a:rPr>
              <a:t>"string"</a:t>
            </a:r>
            <a:r>
              <a:rPr b="0" lang="en-US" sz="18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100000"/>
              </a:lnSpc>
            </a:pP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9876aa"/>
                </a:solidFill>
                <a:uFill>
                  <a:solidFill>
                    <a:srgbClr val="ffffff"/>
                  </a:solidFill>
                </a:uFill>
                <a:latin typeface="Courier New"/>
                <a:ea typeface="DejaVu Sans"/>
              </a:rPr>
              <a:t>"impl"</a:t>
            </a: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6a8759"/>
                </a:solidFill>
                <a:uFill>
                  <a:solidFill>
                    <a:srgbClr val="ffffff"/>
                  </a:solidFill>
                </a:uFill>
                <a:latin typeface="Courier New"/>
                <a:ea typeface="DejaVu Sans"/>
              </a:rPr>
              <a:t>"equals"</a:t>
            </a:r>
            <a:endParaRPr b="0" lang="en-US" sz="1800" spc="-1" strike="noStrike">
              <a:solidFill>
                <a:srgbClr val="000000"/>
              </a:solidFill>
              <a:uFill>
                <a:solidFill>
                  <a:srgbClr val="ffffff"/>
                </a:solidFill>
              </a:uFill>
              <a:latin typeface="Arial"/>
            </a:endParaRPr>
          </a:p>
          <a:p>
            <a:pPr>
              <a:lnSpc>
                <a:spcPct val="100000"/>
              </a:lnSpc>
            </a:pPr>
            <a:r>
              <a:rPr b="0" lang="en-US" sz="1800" spc="-1" strike="noStrike">
                <a:solidFill>
                  <a:srgbClr val="6a8759"/>
                </a:solidFill>
                <a:uFill>
                  <a:solidFill>
                    <a:srgbClr val="ffffff"/>
                  </a:solidFill>
                </a:uFill>
                <a:latin typeface="Courier New"/>
                <a:ea typeface="DejaVu Sans"/>
              </a:rPr>
              <a:t>  </a:t>
            </a:r>
            <a:r>
              <a:rPr b="0" lang="en-US" sz="1800" spc="-1" strike="noStrike">
                <a:solidFill>
                  <a:srgbClr val="a9b7c6"/>
                </a:solidFill>
                <a:uFill>
                  <a:solidFill>
                    <a:srgbClr val="ffffff"/>
                  </a:solidFill>
                </a:uFill>
                <a:latin typeface="Courier New"/>
                <a:ea typeface="DejaVu Sans"/>
              </a:rPr>
              <a:t>}</a:t>
            </a:r>
            <a:r>
              <a:rPr b="0" lang="en-US" sz="18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100000"/>
              </a:lnSpc>
            </a:pP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9876aa"/>
                </a:solidFill>
                <a:uFill>
                  <a:solidFill>
                    <a:srgbClr val="ffffff"/>
                  </a:solidFill>
                </a:uFill>
                <a:latin typeface="Courier New"/>
                <a:ea typeface="DejaVu Sans"/>
              </a:rPr>
              <a:t>"value"</a:t>
            </a:r>
            <a:r>
              <a:rPr b="0" lang="en-US" sz="1800" spc="-1" strike="noStrike">
                <a:solidFill>
                  <a:srgbClr val="cc7832"/>
                </a:solidFill>
                <a:uFill>
                  <a:solidFill>
                    <a:srgbClr val="ffffff"/>
                  </a:solidFill>
                </a:uFill>
                <a:latin typeface="Courier New"/>
                <a:ea typeface="DejaVu Sans"/>
              </a:rPr>
              <a:t>: </a:t>
            </a:r>
            <a:r>
              <a:rPr b="0" lang="en-US" sz="1800" spc="-1" strike="noStrike">
                <a:solidFill>
                  <a:srgbClr val="6a8759"/>
                </a:solidFill>
                <a:uFill>
                  <a:solidFill>
                    <a:srgbClr val="ffffff"/>
                  </a:solidFill>
                </a:uFill>
                <a:latin typeface="Courier New"/>
                <a:ea typeface="DejaVu Sans"/>
              </a:rPr>
              <a:t>"tested"</a:t>
            </a:r>
            <a:endParaRPr b="0" lang="en-US" sz="1800" spc="-1" strike="noStrike">
              <a:solidFill>
                <a:srgbClr val="000000"/>
              </a:solidFill>
              <a:uFill>
                <a:solidFill>
                  <a:srgbClr val="ffffff"/>
                </a:solidFill>
              </a:uFill>
              <a:latin typeface="Arial"/>
            </a:endParaRPr>
          </a:p>
          <a:p>
            <a:pPr>
              <a:lnSpc>
                <a:spcPct val="100000"/>
              </a:lnSpc>
            </a:pPr>
            <a:r>
              <a:rPr b="0" lang="en-US" sz="1800" spc="-1" strike="noStrike">
                <a:solidFill>
                  <a:srgbClr val="000000"/>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marL="152280">
              <a:lnSpc>
                <a:spcPct val="115000"/>
              </a:lnSpc>
            </a:pPr>
            <a:endParaRPr b="0" lang="en-US" sz="1800" spc="-1" strike="noStrike">
              <a:solidFill>
                <a:srgbClr val="000000"/>
              </a:solidFill>
              <a:uFill>
                <a:solidFill>
                  <a:srgbClr val="ffffff"/>
                </a:solidFill>
              </a:uFill>
              <a:latin typeface="Arial"/>
            </a:endParaRPr>
          </a:p>
        </p:txBody>
      </p:sp>
      <p:sp>
        <p:nvSpPr>
          <p:cNvPr id="77"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BE3EDFB4-94D4-4C83-A106-56290D812850}"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
        <p:nvSpPr>
          <p:cNvPr id="78" name="CustomShape 4"/>
          <p:cNvSpPr/>
          <p:nvPr/>
        </p:nvSpPr>
        <p:spPr>
          <a:xfrm>
            <a:off x="4937040" y="2103480"/>
            <a:ext cx="6125760" cy="266976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gn="just"/>
            <a:r>
              <a:rPr b="0" lang="en-US" sz="2000" spc="-1" strike="noStrike">
                <a:solidFill>
                  <a:srgbClr val="000000"/>
                </a:solidFill>
                <a:uFill>
                  <a:solidFill>
                    <a:srgbClr val="ffffff"/>
                  </a:solidFill>
                </a:uFill>
                <a:latin typeface="Times New Roman"/>
                <a:ea typeface="Microsoft YaHei"/>
              </a:rPr>
              <a:t>Condition is a typed class that implements the Predicate interface and it's a bit more complicated than other classes that implement this interface. One field of this class is Matcher ie. a matching class that will be explained in the next chapter. It is important to note that the Matcher type corresponds to a type that defines a typed object of the Condition class. The objects of this class are practically used to compare the values of the key variables with some parameter over the matching Matcher class.</a:t>
            </a:r>
            <a:endParaRPr b="0" lang="en-US" sz="1800" spc="-1" strike="noStrike">
              <a:solidFill>
                <a:srgbClr val="000000"/>
              </a:solidFill>
              <a:uFill>
                <a:solidFill>
                  <a:srgbClr val="ffffff"/>
                </a:solidFill>
              </a:uFill>
              <a:latin typeface="Arial"/>
            </a:endParaRPr>
          </a:p>
        </p:txBody>
      </p:sp>
    </p:spTree>
  </p:cSld>
  <p:timing>
    <p:tnLst>
      <p:par>
        <p:cTn id="13" dur="indefinite" restart="never" nodeType="tmRoot">
          <p:childTnLst>
            <p:seq>
              <p:cTn id="14"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4. MATCHER CLASSES </a:t>
            </a:r>
            <a:endParaRPr b="0" lang="en-US" sz="1800" spc="-1" strike="noStrike">
              <a:solidFill>
                <a:srgbClr val="000000"/>
              </a:solidFill>
              <a:uFill>
                <a:solidFill>
                  <a:srgbClr val="ffffff"/>
                </a:solidFill>
              </a:uFill>
              <a:latin typeface="Arial"/>
            </a:endParaRPr>
          </a:p>
        </p:txBody>
      </p:sp>
      <p:sp>
        <p:nvSpPr>
          <p:cNvPr id="80"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lnSpc>
                <a:spcPct val="100000"/>
              </a:lnSpc>
            </a:pPr>
            <a:endParaRPr b="0" lang="en-US" sz="1800" spc="-1" strike="noStrike">
              <a:solidFill>
                <a:srgbClr val="000000"/>
              </a:solidFill>
              <a:uFill>
                <a:solidFill>
                  <a:srgbClr val="ffffff"/>
                </a:solidFill>
              </a:uFill>
              <a:latin typeface="Arial"/>
            </a:endParaRPr>
          </a:p>
          <a:p>
            <a:pPr marL="152280">
              <a:lnSpc>
                <a:spcPct val="115000"/>
              </a:lnSpc>
            </a:pPr>
            <a:endParaRPr b="0" lang="en-US" sz="1800" spc="-1" strike="noStrike">
              <a:solidFill>
                <a:srgbClr val="000000"/>
              </a:solidFill>
              <a:uFill>
                <a:solidFill>
                  <a:srgbClr val="ffffff"/>
                </a:solidFill>
              </a:uFill>
              <a:latin typeface="Arial"/>
            </a:endParaRPr>
          </a:p>
        </p:txBody>
      </p:sp>
      <p:sp>
        <p:nvSpPr>
          <p:cNvPr id="81"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3BF53D43-130D-4E1B-9013-597EE1DBA78A}"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pic>
        <p:nvPicPr>
          <p:cNvPr id="82" name="" descr=""/>
          <p:cNvPicPr/>
          <p:nvPr/>
        </p:nvPicPr>
        <p:blipFill>
          <a:blip r:embed="rId1"/>
          <a:stretch/>
        </p:blipFill>
        <p:spPr>
          <a:xfrm>
            <a:off x="1114560" y="1816200"/>
            <a:ext cx="5743080" cy="4676400"/>
          </a:xfrm>
          <a:prstGeom prst="rect">
            <a:avLst/>
          </a:prstGeom>
          <a:ln>
            <a:noFill/>
          </a:ln>
        </p:spPr>
      </p:pic>
      <p:sp>
        <p:nvSpPr>
          <p:cNvPr id="83" name="CustomShape 4"/>
          <p:cNvSpPr/>
          <p:nvPr/>
        </p:nvSpPr>
        <p:spPr>
          <a:xfrm>
            <a:off x="6950160" y="2011320"/>
            <a:ext cx="4296960" cy="346032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6520" bIns="45000"/>
          <a:p>
            <a:pPr algn="just"/>
            <a:r>
              <a:rPr b="0" lang="en-US" sz="1800" spc="-1" strike="noStrike">
                <a:solidFill>
                  <a:srgbClr val="000000"/>
                </a:solidFill>
                <a:uFill>
                  <a:solidFill>
                    <a:srgbClr val="ffffff"/>
                  </a:solidFill>
                </a:uFill>
                <a:latin typeface="Times New Roman"/>
                <a:ea typeface="DejaVu Sans"/>
              </a:rPr>
              <a:t>Basically, the Matcher interface is a typed interface and the idea is that based on two input values that are of this type, it returns a boolean type as the output value.</a:t>
            </a:r>
            <a:endParaRPr b="0" lang="en-US" sz="1800" spc="-1" strike="noStrike">
              <a:solidFill>
                <a:srgbClr val="000000"/>
              </a:solidFill>
              <a:uFill>
                <a:solidFill>
                  <a:srgbClr val="ffffff"/>
                </a:solidFill>
              </a:uFill>
              <a:latin typeface="Arial"/>
            </a:endParaRPr>
          </a:p>
          <a:p>
            <a:pPr algn="just"/>
            <a:endParaRPr b="0" lang="en-US" sz="1800" spc="-1" strike="noStrike">
              <a:solidFill>
                <a:srgbClr val="000000"/>
              </a:solidFill>
              <a:uFill>
                <a:solidFill>
                  <a:srgbClr val="ffffff"/>
                </a:solidFill>
              </a:uFill>
              <a:latin typeface="Arial"/>
            </a:endParaRPr>
          </a:p>
          <a:p>
            <a:pPr algn="just"/>
            <a:r>
              <a:rPr b="0" lang="en-US" sz="1800" spc="-1" strike="noStrike">
                <a:solidFill>
                  <a:srgbClr val="000000"/>
                </a:solidFill>
                <a:uFill>
                  <a:solidFill>
                    <a:srgbClr val="ffffff"/>
                  </a:solidFill>
                </a:uFill>
                <a:latin typeface="Times New Roman"/>
                <a:ea typeface="DejaVu Sans"/>
              </a:rPr>
              <a:t>Matcher interface implementation is an abstract typed AbstractMatcher class that contains a private field from an associative array matchers whose key is a String object that points to a Matcher of type T. This associative array will be filled by classes that inherit the AbstractMatcher class, these are the NumericalMatcher classes and StringMatcher.</a:t>
            </a:r>
            <a:endParaRPr b="0" lang="en-US" sz="1800" spc="-1" strike="noStrike">
              <a:solidFill>
                <a:srgbClr val="000000"/>
              </a:solidFill>
              <a:uFill>
                <a:solidFill>
                  <a:srgbClr val="ffffff"/>
                </a:solidFill>
              </a:uFill>
              <a:latin typeface="Arial"/>
            </a:endParaRPr>
          </a:p>
        </p:txBody>
      </p:sp>
    </p:spTree>
  </p:cSld>
  <p:timing>
    <p:tnLst>
      <p:par>
        <p:cTn id="15" dur="indefinite" restart="never" nodeType="tmRoot">
          <p:childTnLst>
            <p:seq>
              <p:cTn id="16"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4. MATCHER CLASSES</a:t>
            </a:r>
            <a:endParaRPr b="0" lang="en-US" sz="1800" spc="-1" strike="noStrike">
              <a:solidFill>
                <a:srgbClr val="000000"/>
              </a:solidFill>
              <a:uFill>
                <a:solidFill>
                  <a:srgbClr val="ffffff"/>
                </a:solidFill>
              </a:uFill>
              <a:latin typeface="Arial"/>
            </a:endParaRPr>
          </a:p>
        </p:txBody>
      </p:sp>
      <p:sp>
        <p:nvSpPr>
          <p:cNvPr id="85"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lnSpc>
                <a:spcPct val="100000"/>
              </a:lnSpc>
            </a:pPr>
            <a:endParaRPr b="0" lang="en-US" sz="1800" spc="-1" strike="noStrike">
              <a:solidFill>
                <a:srgbClr val="000000"/>
              </a:solidFill>
              <a:uFill>
                <a:solidFill>
                  <a:srgbClr val="ffffff"/>
                </a:solidFill>
              </a:uFill>
              <a:latin typeface="Arial"/>
            </a:endParaRPr>
          </a:p>
          <a:p>
            <a:pPr marL="152280">
              <a:lnSpc>
                <a:spcPct val="115000"/>
              </a:lnSpc>
            </a:pPr>
            <a:endParaRPr b="0" lang="en-US" sz="1800" spc="-1" strike="noStrike">
              <a:solidFill>
                <a:srgbClr val="000000"/>
              </a:solidFill>
              <a:uFill>
                <a:solidFill>
                  <a:srgbClr val="ffffff"/>
                </a:solidFill>
              </a:uFill>
              <a:latin typeface="Arial"/>
            </a:endParaRPr>
          </a:p>
        </p:txBody>
      </p:sp>
      <p:sp>
        <p:nvSpPr>
          <p:cNvPr id="86"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DA70E54F-D628-4BC7-8726-88B9692B7717}"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
        <p:nvSpPr>
          <p:cNvPr id="87" name="CustomShape 4"/>
          <p:cNvSpPr/>
          <p:nvPr/>
        </p:nvSpPr>
        <p:spPr>
          <a:xfrm>
            <a:off x="1346040" y="1913040"/>
            <a:ext cx="4779720" cy="36810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nSpc>
                <a:spcPct val="89000"/>
              </a:lnSpc>
            </a:pPr>
            <a:r>
              <a:rPr b="0" lang="en-US" sz="900" spc="-1" strike="noStrike">
                <a:solidFill>
                  <a:srgbClr val="cc7832"/>
                </a:solidFill>
                <a:uFill>
                  <a:solidFill>
                    <a:srgbClr val="ffffff"/>
                  </a:solidFill>
                </a:uFill>
                <a:latin typeface="Courier New"/>
                <a:ea typeface="DejaVu Sans"/>
              </a:rPr>
              <a:t>public class </a:t>
            </a:r>
            <a:r>
              <a:rPr b="0" lang="en-US" sz="900" spc="-1" strike="noStrike">
                <a:solidFill>
                  <a:srgbClr val="a9b7c6"/>
                </a:solidFill>
                <a:uFill>
                  <a:solidFill>
                    <a:srgbClr val="ffffff"/>
                  </a:solidFill>
                </a:uFill>
                <a:latin typeface="Courier New"/>
                <a:ea typeface="DejaVu Sans"/>
              </a:rPr>
              <a:t>NumericalMatcher </a:t>
            </a:r>
            <a:r>
              <a:rPr b="0" lang="en-US" sz="900" spc="-1" strike="noStrike">
                <a:solidFill>
                  <a:srgbClr val="cc7832"/>
                </a:solidFill>
                <a:uFill>
                  <a:solidFill>
                    <a:srgbClr val="ffffff"/>
                  </a:solidFill>
                </a:uFill>
                <a:latin typeface="Courier New"/>
                <a:ea typeface="DejaVu Sans"/>
              </a:rPr>
              <a:t>extends </a:t>
            </a:r>
            <a:r>
              <a:rPr b="0" lang="en-US" sz="900" spc="-1" strike="noStrike">
                <a:solidFill>
                  <a:srgbClr val="a9b7c6"/>
                </a:solidFill>
                <a:uFill>
                  <a:solidFill>
                    <a:srgbClr val="ffffff"/>
                  </a:solidFill>
                </a:uFill>
                <a:latin typeface="Courier New"/>
                <a:ea typeface="DejaVu Sans"/>
              </a:rPr>
              <a:t>AbstractMatcher&lt;Double&gt;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private static final double </a:t>
            </a:r>
            <a:r>
              <a:rPr b="0" i="1" lang="en-US" sz="900" spc="-1" strike="noStrike">
                <a:solidFill>
                  <a:srgbClr val="9876aa"/>
                </a:solidFill>
                <a:uFill>
                  <a:solidFill>
                    <a:srgbClr val="ffffff"/>
                  </a:solidFill>
                </a:uFill>
                <a:latin typeface="Courier New"/>
                <a:ea typeface="DejaVu Sans"/>
              </a:rPr>
              <a:t>EPS </a:t>
            </a:r>
            <a:r>
              <a:rPr b="0" lang="en-US" sz="900" spc="-1" strike="noStrike">
                <a:solidFill>
                  <a:srgbClr val="a9b7c6"/>
                </a:solidFill>
                <a:uFill>
                  <a:solidFill>
                    <a:srgbClr val="ffffff"/>
                  </a:solidFill>
                </a:uFill>
                <a:latin typeface="Courier New"/>
                <a:ea typeface="DejaVu Sans"/>
              </a:rPr>
              <a:t>= </a:t>
            </a:r>
            <a:r>
              <a:rPr b="0" lang="en-US" sz="900" spc="-1" strike="noStrike">
                <a:solidFill>
                  <a:srgbClr val="6897bb"/>
                </a:solidFill>
                <a:uFill>
                  <a:solidFill>
                    <a:srgbClr val="ffffff"/>
                  </a:solidFill>
                </a:uFill>
                <a:latin typeface="Courier New"/>
                <a:ea typeface="DejaVu Sans"/>
              </a:rPr>
              <a:t>0.000001</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bbb529"/>
                </a:solidFill>
                <a:uFill>
                  <a:solidFill>
                    <a:srgbClr val="ffffff"/>
                  </a:solidFill>
                </a:uFill>
                <a:latin typeface="Courier New"/>
                <a:ea typeface="DejaVu Sans"/>
              </a:rPr>
              <a:t>@JsonCreator</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bbb529"/>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public </a:t>
            </a:r>
            <a:r>
              <a:rPr b="0" lang="en-US" sz="900" spc="-1" strike="noStrike">
                <a:solidFill>
                  <a:srgbClr val="ffc66d"/>
                </a:solidFill>
                <a:uFill>
                  <a:solidFill>
                    <a:srgbClr val="ffffff"/>
                  </a:solidFill>
                </a:uFill>
                <a:latin typeface="Courier New"/>
                <a:ea typeface="DejaVu Sans"/>
              </a:rPr>
              <a:t>NumericalMatcher</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bbb529"/>
                </a:solidFill>
                <a:uFill>
                  <a:solidFill>
                    <a:srgbClr val="ffffff"/>
                  </a:solidFill>
                </a:uFill>
                <a:latin typeface="Courier New"/>
                <a:ea typeface="DejaVu Sans"/>
              </a:rPr>
              <a:t>@JsonProperty</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6a8759"/>
                </a:solidFill>
                <a:uFill>
                  <a:solidFill>
                    <a:srgbClr val="ffffff"/>
                  </a:solidFill>
                </a:uFill>
                <a:latin typeface="Courier New"/>
                <a:ea typeface="DejaVu Sans"/>
              </a:rPr>
              <a:t>"impl"</a:t>
            </a:r>
            <a:r>
              <a:rPr b="0" lang="en-US" sz="900" spc="-1" strike="noStrike">
                <a:solidFill>
                  <a:srgbClr val="a9b7c6"/>
                </a:solidFill>
                <a:uFill>
                  <a:solidFill>
                    <a:srgbClr val="ffffff"/>
                  </a:solidFill>
                </a:uFill>
                <a:latin typeface="Courier New"/>
                <a:ea typeface="DejaVu Sans"/>
              </a:rPr>
              <a:t>) String impl)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super</a:t>
            </a:r>
            <a:r>
              <a:rPr b="0" lang="en-US" sz="900" spc="-1" strike="noStrike">
                <a:solidFill>
                  <a:srgbClr val="a9b7c6"/>
                </a:solidFill>
                <a:uFill>
                  <a:solidFill>
                    <a:srgbClr val="ffffff"/>
                  </a:solidFill>
                </a:uFill>
                <a:latin typeface="Courier New"/>
                <a:ea typeface="DejaVu Sans"/>
              </a:rPr>
              <a:t>(impl)</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bbb529"/>
                </a:solidFill>
                <a:uFill>
                  <a:solidFill>
                    <a:srgbClr val="ffffff"/>
                  </a:solidFill>
                </a:uFill>
                <a:latin typeface="Courier New"/>
                <a:ea typeface="DejaVu Sans"/>
              </a:rPr>
              <a:t>@Override</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bbb529"/>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public void </a:t>
            </a:r>
            <a:r>
              <a:rPr b="0" lang="en-US" sz="900" spc="-1" strike="noStrike">
                <a:solidFill>
                  <a:srgbClr val="ffc66d"/>
                </a:solidFill>
                <a:uFill>
                  <a:solidFill>
                    <a:srgbClr val="ffffff"/>
                  </a:solidFill>
                </a:uFill>
                <a:latin typeface="Courier New"/>
                <a:ea typeface="DejaVu Sans"/>
              </a:rPr>
              <a:t>addMatchers</a:t>
            </a:r>
            <a:r>
              <a:rPr b="0" lang="en-US" sz="900" spc="-1" strike="noStrike">
                <a:solidFill>
                  <a:srgbClr val="a9b7c6"/>
                </a:solidFill>
                <a:uFill>
                  <a:solidFill>
                    <a:srgbClr val="ffffff"/>
                  </a:solidFill>
                </a:uFill>
                <a:latin typeface="Courier New"/>
                <a:ea typeface="DejaVu Sans"/>
              </a:rPr>
              <a:t>()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put(</a:t>
            </a:r>
            <a:r>
              <a:rPr b="0" lang="en-US" sz="900" spc="-1" strike="noStrike">
                <a:solidFill>
                  <a:srgbClr val="6a8759"/>
                </a:solidFill>
                <a:uFill>
                  <a:solidFill>
                    <a:srgbClr val="ffffff"/>
                  </a:solidFill>
                </a:uFill>
                <a:latin typeface="Courier New"/>
                <a:ea typeface="DejaVu Sans"/>
              </a:rPr>
              <a:t>"&gt;"</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(v1</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v2) -&gt; v1 &gt; v2)</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put(</a:t>
            </a:r>
            <a:r>
              <a:rPr b="0" lang="en-US" sz="900" spc="-1" strike="noStrike">
                <a:solidFill>
                  <a:srgbClr val="6a8759"/>
                </a:solidFill>
                <a:uFill>
                  <a:solidFill>
                    <a:srgbClr val="ffffff"/>
                  </a:solidFill>
                </a:uFill>
                <a:latin typeface="Courier New"/>
                <a:ea typeface="DejaVu Sans"/>
              </a:rPr>
              <a:t>"&gt;="</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(v1</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v2) -&gt; v1 &gt;= v2)</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put(</a:t>
            </a:r>
            <a:r>
              <a:rPr b="0" lang="en-US" sz="900" spc="-1" strike="noStrike">
                <a:solidFill>
                  <a:srgbClr val="6a8759"/>
                </a:solidFill>
                <a:uFill>
                  <a:solidFill>
                    <a:srgbClr val="ffffff"/>
                  </a:solidFill>
                </a:uFill>
                <a:latin typeface="Courier New"/>
                <a:ea typeface="DejaVu Sans"/>
              </a:rPr>
              <a:t>"&lt;"</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(v1</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v2) -&gt; v1 &lt; v2)</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put(</a:t>
            </a:r>
            <a:r>
              <a:rPr b="0" lang="en-US" sz="900" spc="-1" strike="noStrike">
                <a:solidFill>
                  <a:srgbClr val="6a8759"/>
                </a:solidFill>
                <a:uFill>
                  <a:solidFill>
                    <a:srgbClr val="ffffff"/>
                  </a:solidFill>
                </a:uFill>
                <a:latin typeface="Courier New"/>
                <a:ea typeface="DejaVu Sans"/>
              </a:rPr>
              <a:t>"&lt;="</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(v1</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v2) -&gt; v1 &lt;= v2)</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put(</a:t>
            </a:r>
            <a:r>
              <a:rPr b="0" lang="en-US" sz="900" spc="-1" strike="noStrike">
                <a:solidFill>
                  <a:srgbClr val="6a8759"/>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(v1</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v2) -&gt; Math.</a:t>
            </a:r>
            <a:r>
              <a:rPr b="0" i="1" lang="en-US" sz="900" spc="-1" strike="noStrike">
                <a:solidFill>
                  <a:srgbClr val="a9b7c6"/>
                </a:solidFill>
                <a:uFill>
                  <a:solidFill>
                    <a:srgbClr val="ffffff"/>
                  </a:solidFill>
                </a:uFill>
                <a:latin typeface="Courier New"/>
                <a:ea typeface="DejaVu Sans"/>
              </a:rPr>
              <a:t>abs</a:t>
            </a:r>
            <a:r>
              <a:rPr b="0" lang="en-US" sz="900" spc="-1" strike="noStrike">
                <a:solidFill>
                  <a:srgbClr val="a9b7c6"/>
                </a:solidFill>
                <a:uFill>
                  <a:solidFill>
                    <a:srgbClr val="ffffff"/>
                  </a:solidFill>
                </a:uFill>
                <a:latin typeface="Courier New"/>
                <a:ea typeface="DejaVu Sans"/>
              </a:rPr>
              <a:t>(v1 - v2) &lt; </a:t>
            </a:r>
            <a:r>
              <a:rPr b="0" i="1" lang="en-US" sz="900" spc="-1" strike="noStrike">
                <a:solidFill>
                  <a:srgbClr val="9876aa"/>
                </a:solidFill>
                <a:uFill>
                  <a:solidFill>
                    <a:srgbClr val="ffffff"/>
                  </a:solidFill>
                </a:uFill>
                <a:latin typeface="Courier New"/>
                <a:ea typeface="DejaVu Sans"/>
              </a:rPr>
              <a:t>EPS</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000" spc="-1" strike="noStrike">
                <a:solidFill>
                  <a:srgbClr val="000000"/>
                </a:solidFill>
                <a:uFill>
                  <a:solidFill>
                    <a:srgbClr val="ffffff"/>
                  </a:solidFill>
                </a:uFill>
                <a:latin typeface="Arial"/>
                <a:ea typeface="DejaVu Sans"/>
              </a:rPr>
              <a:t>}</a:t>
            </a:r>
            <a:endParaRPr b="0" lang="en-US" sz="1800" spc="-1" strike="noStrike">
              <a:solidFill>
                <a:srgbClr val="000000"/>
              </a:solidFill>
              <a:uFill>
                <a:solidFill>
                  <a:srgbClr val="ffffff"/>
                </a:solidFill>
              </a:uFill>
              <a:latin typeface="Arial"/>
            </a:endParaRPr>
          </a:p>
        </p:txBody>
      </p:sp>
      <p:sp>
        <p:nvSpPr>
          <p:cNvPr id="88" name="CustomShape 5"/>
          <p:cNvSpPr/>
          <p:nvPr/>
        </p:nvSpPr>
        <p:spPr>
          <a:xfrm>
            <a:off x="6218280" y="1913040"/>
            <a:ext cx="91800" cy="3456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sp>
      <p:sp>
        <p:nvSpPr>
          <p:cNvPr id="89" name="CustomShape 6"/>
          <p:cNvSpPr/>
          <p:nvPr/>
        </p:nvSpPr>
        <p:spPr>
          <a:xfrm>
            <a:off x="6035760" y="2011320"/>
            <a:ext cx="5028840" cy="291276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nSpc>
                <a:spcPct val="89000"/>
              </a:lnSpc>
            </a:pPr>
            <a:r>
              <a:rPr b="0" lang="en-US" sz="900" spc="-1" strike="noStrike">
                <a:solidFill>
                  <a:srgbClr val="cc7832"/>
                </a:solidFill>
                <a:uFill>
                  <a:solidFill>
                    <a:srgbClr val="ffffff"/>
                  </a:solidFill>
                </a:uFill>
                <a:latin typeface="Courier New"/>
                <a:ea typeface="DejaVu Sans"/>
              </a:rPr>
              <a:t>public class </a:t>
            </a:r>
            <a:r>
              <a:rPr b="0" lang="en-US" sz="900" spc="-1" strike="noStrike">
                <a:solidFill>
                  <a:srgbClr val="a9b7c6"/>
                </a:solidFill>
                <a:uFill>
                  <a:solidFill>
                    <a:srgbClr val="ffffff"/>
                  </a:solidFill>
                </a:uFill>
                <a:latin typeface="Courier New"/>
                <a:ea typeface="DejaVu Sans"/>
              </a:rPr>
              <a:t>StringMatcher </a:t>
            </a:r>
            <a:r>
              <a:rPr b="0" lang="en-US" sz="900" spc="-1" strike="noStrike">
                <a:solidFill>
                  <a:srgbClr val="cc7832"/>
                </a:solidFill>
                <a:uFill>
                  <a:solidFill>
                    <a:srgbClr val="ffffff"/>
                  </a:solidFill>
                </a:uFill>
                <a:latin typeface="Courier New"/>
                <a:ea typeface="DejaVu Sans"/>
              </a:rPr>
              <a:t>extends </a:t>
            </a:r>
            <a:r>
              <a:rPr b="0" lang="en-US" sz="900" spc="-1" strike="noStrike">
                <a:solidFill>
                  <a:srgbClr val="a9b7c6"/>
                </a:solidFill>
                <a:uFill>
                  <a:solidFill>
                    <a:srgbClr val="ffffff"/>
                  </a:solidFill>
                </a:uFill>
                <a:latin typeface="Courier New"/>
                <a:ea typeface="DejaVu Sans"/>
              </a:rPr>
              <a:t>AbstractMatcher&lt;String&gt;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bbb529"/>
                </a:solidFill>
                <a:uFill>
                  <a:solidFill>
                    <a:srgbClr val="ffffff"/>
                  </a:solidFill>
                </a:uFill>
                <a:latin typeface="Courier New"/>
                <a:ea typeface="DejaVu Sans"/>
              </a:rPr>
              <a:t>@JsonCreator</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bbb529"/>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public </a:t>
            </a:r>
            <a:r>
              <a:rPr b="0" lang="en-US" sz="900" spc="-1" strike="noStrike">
                <a:solidFill>
                  <a:srgbClr val="ffc66d"/>
                </a:solidFill>
                <a:uFill>
                  <a:solidFill>
                    <a:srgbClr val="ffffff"/>
                  </a:solidFill>
                </a:uFill>
                <a:latin typeface="Courier New"/>
                <a:ea typeface="DejaVu Sans"/>
              </a:rPr>
              <a:t>StringMatcher</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bbb529"/>
                </a:solidFill>
                <a:uFill>
                  <a:solidFill>
                    <a:srgbClr val="ffffff"/>
                  </a:solidFill>
                </a:uFill>
                <a:latin typeface="Courier New"/>
                <a:ea typeface="DejaVu Sans"/>
              </a:rPr>
              <a:t>@JsonProperty</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6a8759"/>
                </a:solidFill>
                <a:uFill>
                  <a:solidFill>
                    <a:srgbClr val="ffffff"/>
                  </a:solidFill>
                </a:uFill>
                <a:latin typeface="Courier New"/>
                <a:ea typeface="DejaVu Sans"/>
              </a:rPr>
              <a:t>"impl"</a:t>
            </a:r>
            <a:r>
              <a:rPr b="0" lang="en-US" sz="900" spc="-1" strike="noStrike">
                <a:solidFill>
                  <a:srgbClr val="a9b7c6"/>
                </a:solidFill>
                <a:uFill>
                  <a:solidFill>
                    <a:srgbClr val="ffffff"/>
                  </a:solidFill>
                </a:uFill>
                <a:latin typeface="Courier New"/>
                <a:ea typeface="DejaVu Sans"/>
              </a:rPr>
              <a:t>) String impl)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super</a:t>
            </a:r>
            <a:r>
              <a:rPr b="0" lang="en-US" sz="900" spc="-1" strike="noStrike">
                <a:solidFill>
                  <a:srgbClr val="a9b7c6"/>
                </a:solidFill>
                <a:uFill>
                  <a:solidFill>
                    <a:srgbClr val="ffffff"/>
                  </a:solidFill>
                </a:uFill>
                <a:latin typeface="Courier New"/>
                <a:ea typeface="DejaVu Sans"/>
              </a:rPr>
              <a:t>(impl)</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bbb529"/>
                </a:solidFill>
                <a:uFill>
                  <a:solidFill>
                    <a:srgbClr val="ffffff"/>
                  </a:solidFill>
                </a:uFill>
                <a:latin typeface="Courier New"/>
                <a:ea typeface="DejaVu Sans"/>
              </a:rPr>
              <a:t>@Override</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bbb529"/>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public void </a:t>
            </a:r>
            <a:r>
              <a:rPr b="0" lang="en-US" sz="900" spc="-1" strike="noStrike">
                <a:solidFill>
                  <a:srgbClr val="ffc66d"/>
                </a:solidFill>
                <a:uFill>
                  <a:solidFill>
                    <a:srgbClr val="ffffff"/>
                  </a:solidFill>
                </a:uFill>
                <a:latin typeface="Courier New"/>
                <a:ea typeface="DejaVu Sans"/>
              </a:rPr>
              <a:t>addMatchers</a:t>
            </a:r>
            <a:r>
              <a:rPr b="0" lang="en-US" sz="900" spc="-1" strike="noStrike">
                <a:solidFill>
                  <a:srgbClr val="a9b7c6"/>
                </a:solidFill>
                <a:uFill>
                  <a:solidFill>
                    <a:srgbClr val="ffffff"/>
                  </a:solidFill>
                </a:uFill>
                <a:latin typeface="Courier New"/>
                <a:ea typeface="DejaVu Sans"/>
              </a:rPr>
              <a:t>()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put(</a:t>
            </a:r>
            <a:r>
              <a:rPr b="0" lang="en-US" sz="900" spc="-1" strike="noStrike">
                <a:solidFill>
                  <a:srgbClr val="6a8759"/>
                </a:solidFill>
                <a:uFill>
                  <a:solidFill>
                    <a:srgbClr val="ffffff"/>
                  </a:solidFill>
                </a:uFill>
                <a:latin typeface="Courier New"/>
                <a:ea typeface="DejaVu Sans"/>
              </a:rPr>
              <a:t>"equals"</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((v1</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v2) -&gt; v1.equals(v2)))</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put(</a:t>
            </a:r>
            <a:r>
              <a:rPr b="0" lang="en-US" sz="900" spc="-1" strike="noStrike">
                <a:solidFill>
                  <a:srgbClr val="6a8759"/>
                </a:solidFill>
                <a:uFill>
                  <a:solidFill>
                    <a:srgbClr val="ffffff"/>
                  </a:solidFill>
                </a:uFill>
                <a:latin typeface="Courier New"/>
                <a:ea typeface="DejaVu Sans"/>
              </a:rPr>
              <a:t>"startsWith"</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((v1</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v2) -&gt; v1.startsWith(v2)))</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put(</a:t>
            </a:r>
            <a:r>
              <a:rPr b="0" lang="en-US" sz="900" spc="-1" strike="noStrike">
                <a:solidFill>
                  <a:srgbClr val="6a8759"/>
                </a:solidFill>
                <a:uFill>
                  <a:solidFill>
                    <a:srgbClr val="ffffff"/>
                  </a:solidFill>
                </a:uFill>
                <a:latin typeface="Courier New"/>
                <a:ea typeface="DejaVu Sans"/>
              </a:rPr>
              <a:t>"endsWith"</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((v1</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v2) -&gt; v1.endsWith(v2)))</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000" spc="-1" strike="noStrike">
                <a:solidFill>
                  <a:srgbClr val="000000"/>
                </a:solidFill>
                <a:uFill>
                  <a:solidFill>
                    <a:srgbClr val="ffffff"/>
                  </a:solidFill>
                </a:uFill>
                <a:latin typeface="Arial"/>
                <a:ea typeface="DejaVu Sans"/>
              </a:rPr>
              <a:t>}</a:t>
            </a:r>
            <a:endParaRPr b="0" lang="en-US" sz="1800" spc="-1" strike="noStrike">
              <a:solidFill>
                <a:srgbClr val="000000"/>
              </a:solidFill>
              <a:uFill>
                <a:solidFill>
                  <a:srgbClr val="ffffff"/>
                </a:solidFill>
              </a:uFill>
              <a:latin typeface="Arial"/>
            </a:endParaRPr>
          </a:p>
        </p:txBody>
      </p:sp>
    </p:spTree>
  </p:cSld>
  <p:timing>
    <p:tnLst>
      <p:par>
        <p:cTn id="17" dur="indefinite" restart="never" nodeType="tmRoot">
          <p:childTnLst>
            <p:seq>
              <p:cTn id="18"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5. CAUSALITY CLASSES</a:t>
            </a:r>
            <a:endParaRPr b="0" lang="en-US" sz="1800" spc="-1" strike="noStrike">
              <a:solidFill>
                <a:srgbClr val="000000"/>
              </a:solidFill>
              <a:uFill>
                <a:solidFill>
                  <a:srgbClr val="ffffff"/>
                </a:solidFill>
              </a:uFill>
              <a:latin typeface="Arial"/>
            </a:endParaRPr>
          </a:p>
        </p:txBody>
      </p:sp>
      <p:sp>
        <p:nvSpPr>
          <p:cNvPr id="91"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lnSpc>
                <a:spcPct val="100000"/>
              </a:lnSpc>
            </a:pPr>
            <a:endParaRPr b="0" lang="en-US" sz="1800" spc="-1" strike="noStrike">
              <a:solidFill>
                <a:srgbClr val="000000"/>
              </a:solidFill>
              <a:uFill>
                <a:solidFill>
                  <a:srgbClr val="ffffff"/>
                </a:solidFill>
              </a:uFill>
              <a:latin typeface="Arial"/>
            </a:endParaRPr>
          </a:p>
          <a:p>
            <a:pPr marL="152280">
              <a:lnSpc>
                <a:spcPct val="115000"/>
              </a:lnSpc>
            </a:pPr>
            <a:endParaRPr b="0" lang="en-US" sz="1800" spc="-1" strike="noStrike">
              <a:solidFill>
                <a:srgbClr val="000000"/>
              </a:solidFill>
              <a:uFill>
                <a:solidFill>
                  <a:srgbClr val="ffffff"/>
                </a:solidFill>
              </a:uFill>
              <a:latin typeface="Arial"/>
            </a:endParaRPr>
          </a:p>
        </p:txBody>
      </p:sp>
      <p:sp>
        <p:nvSpPr>
          <p:cNvPr id="92"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7921EA90-0632-4ECA-BE65-9CCC5E27407F}"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pic>
        <p:nvPicPr>
          <p:cNvPr id="93" name="" descr=""/>
          <p:cNvPicPr/>
          <p:nvPr/>
        </p:nvPicPr>
        <p:blipFill>
          <a:blip r:embed="rId1"/>
          <a:stretch/>
        </p:blipFill>
        <p:spPr>
          <a:xfrm>
            <a:off x="1114560" y="1758960"/>
            <a:ext cx="5103360" cy="5060520"/>
          </a:xfrm>
          <a:prstGeom prst="rect">
            <a:avLst/>
          </a:prstGeom>
          <a:ln>
            <a:noFill/>
          </a:ln>
        </p:spPr>
      </p:pic>
      <p:sp>
        <p:nvSpPr>
          <p:cNvPr id="94" name="CustomShape 4"/>
          <p:cNvSpPr/>
          <p:nvPr/>
        </p:nvSpPr>
        <p:spPr>
          <a:xfrm>
            <a:off x="6583320" y="1913040"/>
            <a:ext cx="4269960" cy="38160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gn="just"/>
            <a:r>
              <a:rPr b="0" lang="en-US" sz="2000" spc="-1" strike="noStrike">
                <a:solidFill>
                  <a:srgbClr val="000000"/>
                </a:solidFill>
                <a:uFill>
                  <a:solidFill>
                    <a:srgbClr val="ffffff"/>
                  </a:solidFill>
                </a:uFill>
                <a:latin typeface="Times New Roman"/>
                <a:ea typeface="Microsoft YaHei"/>
              </a:rPr>
              <a:t>Causation is a typified class that is the most important class in this library. Each Causation object consists of a </a:t>
            </a:r>
            <a:r>
              <a:rPr b="0" i="1" lang="en-US" sz="2000" spc="-1" strike="noStrike">
                <a:solidFill>
                  <a:srgbClr val="000000"/>
                </a:solidFill>
                <a:uFill>
                  <a:solidFill>
                    <a:srgbClr val="ffffff"/>
                  </a:solidFill>
                </a:uFill>
                <a:latin typeface="Times New Roman"/>
                <a:ea typeface="Microsoft YaHei"/>
              </a:rPr>
              <a:t>superCause</a:t>
            </a:r>
            <a:r>
              <a:rPr b="0" lang="en-US" sz="2000" spc="-1" strike="noStrike">
                <a:solidFill>
                  <a:srgbClr val="000000"/>
                </a:solidFill>
                <a:uFill>
                  <a:solidFill>
                    <a:srgbClr val="ffffff"/>
                  </a:solidFill>
                </a:uFill>
                <a:latin typeface="Times New Roman"/>
                <a:ea typeface="Microsoft YaHei"/>
              </a:rPr>
              <a:t> field that is of the Predicate type and this predicate corresponds to an over-condition that must always be fulfilled for the given problem. The next field is the </a:t>
            </a:r>
            <a:r>
              <a:rPr b="0" i="1" lang="en-US" sz="2000" spc="-1" strike="noStrike">
                <a:solidFill>
                  <a:srgbClr val="000000"/>
                </a:solidFill>
                <a:uFill>
                  <a:solidFill>
                    <a:srgbClr val="ffffff"/>
                  </a:solidFill>
                </a:uFill>
                <a:latin typeface="Times New Roman"/>
                <a:ea typeface="Microsoft YaHei"/>
              </a:rPr>
              <a:t>causalities</a:t>
            </a:r>
            <a:r>
              <a:rPr b="0" lang="en-US" sz="2000" spc="-1" strike="noStrike">
                <a:solidFill>
                  <a:srgbClr val="000000"/>
                </a:solidFill>
                <a:uFill>
                  <a:solidFill>
                    <a:srgbClr val="ffffff"/>
                  </a:solidFill>
                </a:uFill>
                <a:latin typeface="Times New Roman"/>
                <a:ea typeface="Microsoft YaHei"/>
              </a:rPr>
              <a:t> that is a list of Causality objects of type of T. The field </a:t>
            </a:r>
            <a:r>
              <a:rPr b="0" i="1" lang="en-US" sz="2000" spc="-1" strike="noStrike">
                <a:solidFill>
                  <a:srgbClr val="000000"/>
                </a:solidFill>
                <a:uFill>
                  <a:solidFill>
                    <a:srgbClr val="ffffff"/>
                  </a:solidFill>
                </a:uFill>
                <a:latin typeface="Times New Roman"/>
                <a:ea typeface="Microsoft YaHei"/>
              </a:rPr>
              <a:t>otherwise</a:t>
            </a:r>
            <a:r>
              <a:rPr b="0" lang="en-US" sz="2000" spc="-1" strike="noStrike">
                <a:solidFill>
                  <a:srgbClr val="000000"/>
                </a:solidFill>
                <a:uFill>
                  <a:solidFill>
                    <a:srgbClr val="ffffff"/>
                  </a:solidFill>
                </a:uFill>
                <a:latin typeface="Times New Roman"/>
                <a:ea typeface="Microsoft YaHei"/>
              </a:rPr>
              <a:t> is a field of type T and corresponds to the result or effect when no predicate from the predicate part within the </a:t>
            </a:r>
            <a:r>
              <a:rPr b="0" i="1" lang="en-US" sz="2000" spc="-1" strike="noStrike">
                <a:solidFill>
                  <a:srgbClr val="000000"/>
                </a:solidFill>
                <a:uFill>
                  <a:solidFill>
                    <a:srgbClr val="ffffff"/>
                  </a:solidFill>
                </a:uFill>
                <a:latin typeface="Times New Roman"/>
                <a:ea typeface="Microsoft YaHei"/>
              </a:rPr>
              <a:t>causalities</a:t>
            </a:r>
            <a:r>
              <a:rPr b="0" lang="en-US" sz="2000" spc="-1" strike="noStrike">
                <a:solidFill>
                  <a:srgbClr val="000000"/>
                </a:solidFill>
                <a:uFill>
                  <a:solidFill>
                    <a:srgbClr val="ffffff"/>
                  </a:solidFill>
                </a:uFill>
                <a:latin typeface="Times New Roman"/>
                <a:ea typeface="Microsoft YaHei"/>
              </a:rPr>
              <a:t> list is met.</a:t>
            </a:r>
            <a:endParaRPr b="0" lang="en-US" sz="1800" spc="-1" strike="noStrike">
              <a:solidFill>
                <a:srgbClr val="000000"/>
              </a:solidFill>
              <a:uFill>
                <a:solidFill>
                  <a:srgbClr val="ffffff"/>
                </a:solidFill>
              </a:uFill>
              <a:latin typeface="Arial"/>
            </a:endParaRPr>
          </a:p>
        </p:txBody>
      </p:sp>
    </p:spTree>
  </p:cSld>
  <p:timing>
    <p:tnLst>
      <p:par>
        <p:cTn id="19" dur="indefinite" restart="never" nodeType="tmRoot">
          <p:childTnLst>
            <p:seq>
              <p:cTn id="20"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5. CAUSALITY CLASSES </a:t>
            </a:r>
            <a:endParaRPr b="0" lang="en-US" sz="1800" spc="-1" strike="noStrike">
              <a:solidFill>
                <a:srgbClr val="000000"/>
              </a:solidFill>
              <a:uFill>
                <a:solidFill>
                  <a:srgbClr val="ffffff"/>
                </a:solidFill>
              </a:uFill>
              <a:latin typeface="Arial"/>
            </a:endParaRPr>
          </a:p>
        </p:txBody>
      </p:sp>
      <p:sp>
        <p:nvSpPr>
          <p:cNvPr id="96" name="CustomShape 2"/>
          <p:cNvSpPr/>
          <p:nvPr/>
        </p:nvSpPr>
        <p:spPr>
          <a:xfrm>
            <a:off x="1346040" y="1913040"/>
            <a:ext cx="9507240" cy="3706200"/>
          </a:xfrm>
          <a:prstGeom prst="rect">
            <a:avLst/>
          </a:prstGeom>
          <a:noFill/>
          <a:ln>
            <a:noFill/>
          </a:ln>
        </p:spPr>
        <p:style>
          <a:lnRef idx="0"/>
          <a:fillRef idx="0"/>
          <a:effectRef idx="0"/>
          <a:fontRef idx="minor"/>
        </p:style>
      </p:sp>
      <p:sp>
        <p:nvSpPr>
          <p:cNvPr id="97"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6FB5AF6B-B596-4F5F-9ABF-414D86E0432E}"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
        <p:nvSpPr>
          <p:cNvPr id="98" name="CustomShape 4"/>
          <p:cNvSpPr/>
          <p:nvPr/>
        </p:nvSpPr>
        <p:spPr>
          <a:xfrm>
            <a:off x="1346040" y="2103480"/>
            <a:ext cx="5054400" cy="328716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nSpc>
                <a:spcPct val="89000"/>
              </a:lnSpc>
            </a:pPr>
            <a:r>
              <a:rPr b="0" lang="en-US" sz="900" spc="-1" strike="noStrike">
                <a:solidFill>
                  <a:srgbClr val="cc7832"/>
                </a:solidFill>
                <a:uFill>
                  <a:solidFill>
                    <a:srgbClr val="ffffff"/>
                  </a:solidFill>
                </a:uFill>
                <a:latin typeface="Courier New"/>
                <a:ea typeface="DejaVu Sans"/>
              </a:rPr>
              <a:t>public </a:t>
            </a:r>
            <a:r>
              <a:rPr b="0" lang="en-US" sz="900" spc="-1" strike="noStrike">
                <a:solidFill>
                  <a:srgbClr val="507874"/>
                </a:solidFill>
                <a:uFill>
                  <a:solidFill>
                    <a:srgbClr val="ffffff"/>
                  </a:solidFill>
                </a:uFill>
                <a:latin typeface="Courier New"/>
                <a:ea typeface="DejaVu Sans"/>
              </a:rPr>
              <a:t>T </a:t>
            </a:r>
            <a:r>
              <a:rPr b="0" lang="en-US" sz="900" spc="-1" strike="noStrike">
                <a:solidFill>
                  <a:srgbClr val="ffc66d"/>
                </a:solidFill>
                <a:uFill>
                  <a:solidFill>
                    <a:srgbClr val="ffffff"/>
                  </a:solidFill>
                </a:uFill>
                <a:latin typeface="Courier New"/>
                <a:ea typeface="DejaVu Sans"/>
              </a:rPr>
              <a:t>getEffect</a:t>
            </a:r>
            <a:r>
              <a:rPr b="0" lang="en-US" sz="900" spc="-1" strike="noStrike">
                <a:solidFill>
                  <a:srgbClr val="a9b7c6"/>
                </a:solidFill>
                <a:uFill>
                  <a:solidFill>
                    <a:srgbClr val="ffffff"/>
                  </a:solidFill>
                </a:uFill>
                <a:latin typeface="Courier New"/>
                <a:ea typeface="DejaVu Sans"/>
              </a:rPr>
              <a:t>()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injectValues()</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throwIfAnyNulledValueInConditions()</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if </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9876aa"/>
                </a:solidFill>
                <a:uFill>
                  <a:solidFill>
                    <a:srgbClr val="ffffff"/>
                  </a:solidFill>
                </a:uFill>
                <a:latin typeface="Courier New"/>
                <a:ea typeface="DejaVu Sans"/>
              </a:rPr>
              <a:t>superCause</a:t>
            </a:r>
            <a:r>
              <a:rPr b="0" lang="en-US" sz="900" spc="-1" strike="noStrike">
                <a:solidFill>
                  <a:srgbClr val="a9b7c6"/>
                </a:solidFill>
                <a:uFill>
                  <a:solidFill>
                    <a:srgbClr val="ffffff"/>
                  </a:solidFill>
                </a:uFill>
                <a:latin typeface="Courier New"/>
                <a:ea typeface="DejaVu Sans"/>
              </a:rPr>
              <a:t>.test())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return </a:t>
            </a:r>
            <a:r>
              <a:rPr b="0" lang="en-US" sz="900" spc="-1" strike="noStrike">
                <a:solidFill>
                  <a:srgbClr val="9876aa"/>
                </a:solidFill>
                <a:uFill>
                  <a:solidFill>
                    <a:srgbClr val="ffffff"/>
                  </a:solidFill>
                </a:uFill>
                <a:latin typeface="Courier New"/>
                <a:ea typeface="DejaVu Sans"/>
              </a:rPr>
              <a:t>otherwise</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cc7832"/>
                </a:solidFill>
                <a:uFill>
                  <a:solidFill>
                    <a:srgbClr val="ffffff"/>
                  </a:solidFill>
                </a:uFill>
                <a:latin typeface="Courier New"/>
                <a:ea typeface="DejaVu Sans"/>
              </a:rPr>
              <a:t>return </a:t>
            </a:r>
            <a:r>
              <a:rPr b="0" lang="en-US" sz="900" spc="-1" strike="noStrike">
                <a:solidFill>
                  <a:srgbClr val="9876aa"/>
                </a:solidFill>
                <a:uFill>
                  <a:solidFill>
                    <a:srgbClr val="ffffff"/>
                  </a:solidFill>
                </a:uFill>
                <a:latin typeface="Courier New"/>
                <a:ea typeface="DejaVu Sans"/>
              </a:rPr>
              <a:t>causalities</a:t>
            </a:r>
            <a:r>
              <a:rPr b="0" lang="en-US" sz="900" spc="-1" strike="noStrike">
                <a:solidFill>
                  <a:srgbClr val="a9b7c6"/>
                </a:solidFill>
                <a:uFill>
                  <a:solidFill>
                    <a:srgbClr val="ffffff"/>
                  </a:solidFill>
                </a:uFill>
                <a:latin typeface="Courier New"/>
                <a:ea typeface="DejaVu Sans"/>
              </a:rPr>
              <a:t>.stream().filter(c-&gt;c.getCause().test()).findFirst()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.orElse(</a:t>
            </a:r>
            <a:r>
              <a:rPr b="0" lang="en-US" sz="900" spc="-1" strike="noStrike">
                <a:solidFill>
                  <a:srgbClr val="cc7832"/>
                </a:solidFill>
                <a:uFill>
                  <a:solidFill>
                    <a:srgbClr val="ffffff"/>
                  </a:solidFill>
                </a:uFill>
                <a:latin typeface="Courier New"/>
                <a:ea typeface="DejaVu Sans"/>
              </a:rPr>
              <a:t>new </a:t>
            </a:r>
            <a:r>
              <a:rPr b="0" lang="en-US" sz="900" spc="-1" strike="noStrike">
                <a:solidFill>
                  <a:srgbClr val="a9b7c6"/>
                </a:solidFill>
                <a:uFill>
                  <a:solidFill>
                    <a:srgbClr val="ffffff"/>
                  </a:solidFill>
                </a:uFill>
                <a:latin typeface="Courier New"/>
                <a:ea typeface="DejaVu Sans"/>
              </a:rPr>
              <a:t>Causality&lt;&gt;(</a:t>
            </a:r>
            <a:r>
              <a:rPr b="0" lang="en-US" sz="900" spc="-1" strike="noStrike">
                <a:solidFill>
                  <a:srgbClr val="9876aa"/>
                </a:solidFill>
                <a:uFill>
                  <a:solidFill>
                    <a:srgbClr val="ffffff"/>
                  </a:solidFill>
                </a:uFill>
                <a:latin typeface="Courier New"/>
                <a:ea typeface="DejaVu Sans"/>
              </a:rPr>
              <a:t>otherwise</a:t>
            </a:r>
            <a:r>
              <a:rPr b="0" lang="en-US" sz="900" spc="-1" strike="noStrike">
                <a:solidFill>
                  <a:srgbClr val="a9b7c6"/>
                </a:solidFill>
                <a:uFill>
                  <a:solidFill>
                    <a:srgbClr val="ffffff"/>
                  </a:solidFill>
                </a:uFill>
                <a:latin typeface="Courier New"/>
                <a:ea typeface="DejaVu Sans"/>
              </a:rPr>
              <a:t>)).getEffect()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000" spc="-1" strike="noStrike">
                <a:solidFill>
                  <a:srgbClr val="000000"/>
                </a:solidFill>
                <a:uFill>
                  <a:solidFill>
                    <a:srgbClr val="ffffff"/>
                  </a:solidFill>
                </a:uFill>
                <a:latin typeface="Arial"/>
                <a:ea typeface="DejaVu Sans"/>
              </a:rPr>
              <a:t>}</a:t>
            </a:r>
            <a:endParaRPr b="0" lang="en-US" sz="1800" spc="-1" strike="noStrike">
              <a:solidFill>
                <a:srgbClr val="000000"/>
              </a:solidFill>
              <a:uFill>
                <a:solidFill>
                  <a:srgbClr val="ffffff"/>
                </a:solidFill>
              </a:uFill>
              <a:latin typeface="Arial"/>
            </a:endParaRPr>
          </a:p>
          <a:p>
            <a:pPr>
              <a:lnSpc>
                <a:spcPct val="89000"/>
              </a:lnSpc>
            </a:pPr>
            <a:r>
              <a:rPr b="0" lang="en-US" sz="900" spc="-1" strike="noStrike">
                <a:solidFill>
                  <a:srgbClr val="cc7832"/>
                </a:solidFill>
                <a:uFill>
                  <a:solidFill>
                    <a:srgbClr val="ffffff"/>
                  </a:solidFill>
                </a:uFill>
                <a:latin typeface="Courier New"/>
                <a:ea typeface="DejaVu Sans"/>
              </a:rPr>
              <a:t>private void </a:t>
            </a:r>
            <a:r>
              <a:rPr b="0" lang="en-US" sz="900" spc="-1" strike="noStrike">
                <a:solidFill>
                  <a:srgbClr val="ffc66d"/>
                </a:solidFill>
                <a:uFill>
                  <a:solidFill>
                    <a:srgbClr val="ffffff"/>
                  </a:solidFill>
                </a:uFill>
                <a:latin typeface="Courier New"/>
                <a:ea typeface="DejaVu Sans"/>
              </a:rPr>
              <a:t>injectValues</a:t>
            </a:r>
            <a:r>
              <a:rPr b="0" lang="en-US" sz="900" spc="-1" strike="noStrike">
                <a:solidFill>
                  <a:srgbClr val="a9b7c6"/>
                </a:solidFill>
                <a:uFill>
                  <a:solidFill>
                    <a:srgbClr val="ffffff"/>
                  </a:solidFill>
                </a:uFill>
                <a:latin typeface="Courier New"/>
                <a:ea typeface="DejaVu Sans"/>
              </a:rPr>
              <a:t>()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superCause</a:t>
            </a:r>
            <a:r>
              <a:rPr b="0" lang="en-US" sz="900" spc="-1" strike="noStrike">
                <a:solidFill>
                  <a:srgbClr val="a9b7c6"/>
                </a:solidFill>
                <a:uFill>
                  <a:solidFill>
                    <a:srgbClr val="ffffff"/>
                  </a:solidFill>
                </a:uFill>
                <a:latin typeface="Courier New"/>
                <a:ea typeface="DejaVu Sans"/>
              </a:rPr>
              <a:t>.flattened().flatMap(Predicate::flattened)</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.filter(x-&gt; x </a:t>
            </a:r>
            <a:r>
              <a:rPr b="0" lang="en-US" sz="900" spc="-1" strike="noStrike">
                <a:solidFill>
                  <a:srgbClr val="cc7832"/>
                </a:solidFill>
                <a:uFill>
                  <a:solidFill>
                    <a:srgbClr val="ffffff"/>
                  </a:solidFill>
                </a:uFill>
                <a:latin typeface="Courier New"/>
                <a:ea typeface="DejaVu Sans"/>
              </a:rPr>
              <a:t>instanceof </a:t>
            </a:r>
            <a:r>
              <a:rPr b="0" lang="en-US" sz="900" spc="-1" strike="noStrike">
                <a:solidFill>
                  <a:srgbClr val="a9b7c6"/>
                </a:solidFill>
                <a:uFill>
                  <a:solidFill>
                    <a:srgbClr val="ffffff"/>
                  </a:solidFill>
                </a:uFill>
                <a:latin typeface="Courier New"/>
                <a:ea typeface="DejaVu Sans"/>
              </a:rPr>
              <a:t>Condition).map(Condition.</a:t>
            </a:r>
            <a:r>
              <a:rPr b="0" lang="en-US" sz="900" spc="-1" strike="noStrike">
                <a:solidFill>
                  <a:srgbClr val="cc7832"/>
                </a:solidFill>
                <a:uFill>
                  <a:solidFill>
                    <a:srgbClr val="ffffff"/>
                  </a:solidFill>
                </a:uFill>
                <a:latin typeface="Courier New"/>
                <a:ea typeface="DejaVu Sans"/>
              </a:rPr>
              <a:t>class</a:t>
            </a:r>
            <a:r>
              <a:rPr b="0" lang="en-US" sz="900" spc="-1" strike="noStrike">
                <a:solidFill>
                  <a:srgbClr val="a9b7c6"/>
                </a:solidFill>
                <a:uFill>
                  <a:solidFill>
                    <a:srgbClr val="ffffff"/>
                  </a:solidFill>
                </a:uFill>
                <a:latin typeface="Courier New"/>
                <a:ea typeface="DejaVu Sans"/>
              </a:rPr>
              <a:t>::cast).forEach(c-&gt; c.setV1(</a:t>
            </a:r>
            <a:r>
              <a:rPr b="0" lang="en-US" sz="900" spc="-1" strike="noStrike">
                <a:solidFill>
                  <a:srgbClr val="9876aa"/>
                </a:solidFill>
                <a:uFill>
                  <a:solidFill>
                    <a:srgbClr val="ffffff"/>
                  </a:solidFill>
                </a:uFill>
                <a:latin typeface="Courier New"/>
                <a:ea typeface="DejaVu Sans"/>
              </a:rPr>
              <a:t>valueMap</a:t>
            </a:r>
            <a:r>
              <a:rPr b="0" lang="en-US" sz="900" spc="-1" strike="noStrike">
                <a:solidFill>
                  <a:srgbClr val="a9b7c6"/>
                </a:solidFill>
                <a:uFill>
                  <a:solidFill>
                    <a:srgbClr val="ffffff"/>
                  </a:solidFill>
                </a:uFill>
                <a:latin typeface="Courier New"/>
                <a:ea typeface="DejaVu Sans"/>
              </a:rPr>
              <a:t>.get(c.getKey())))</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filterConditions().forEach(c-&gt; c.setV1(</a:t>
            </a:r>
            <a:r>
              <a:rPr b="0" lang="en-US" sz="900" spc="-1" strike="noStrike">
                <a:solidFill>
                  <a:srgbClr val="9876aa"/>
                </a:solidFill>
                <a:uFill>
                  <a:solidFill>
                    <a:srgbClr val="ffffff"/>
                  </a:solidFill>
                </a:uFill>
                <a:latin typeface="Courier New"/>
                <a:ea typeface="DejaVu Sans"/>
              </a:rPr>
              <a:t>valueMap</a:t>
            </a:r>
            <a:r>
              <a:rPr b="0" lang="en-US" sz="900" spc="-1" strike="noStrike">
                <a:solidFill>
                  <a:srgbClr val="a9b7c6"/>
                </a:solidFill>
                <a:uFill>
                  <a:solidFill>
                    <a:srgbClr val="ffffff"/>
                  </a:solidFill>
                </a:uFill>
                <a:latin typeface="Courier New"/>
                <a:ea typeface="DejaVu Sans"/>
              </a:rPr>
              <a:t>.get(c.getKey())))</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000" spc="-1" strike="noStrike">
                <a:solidFill>
                  <a:srgbClr val="000000"/>
                </a:solidFill>
                <a:uFill>
                  <a:solidFill>
                    <a:srgbClr val="ffffff"/>
                  </a:solidFill>
                </a:uFill>
                <a:latin typeface="Arial"/>
                <a:ea typeface="DejaVu Sans"/>
              </a:rPr>
              <a:t>}</a:t>
            </a:r>
            <a:endParaRPr b="0" lang="en-US" sz="1800" spc="-1" strike="noStrike">
              <a:solidFill>
                <a:srgbClr val="000000"/>
              </a:solidFill>
              <a:uFill>
                <a:solidFill>
                  <a:srgbClr val="ffffff"/>
                </a:solidFill>
              </a:uFill>
              <a:latin typeface="Arial"/>
            </a:endParaRPr>
          </a:p>
        </p:txBody>
      </p:sp>
      <p:sp>
        <p:nvSpPr>
          <p:cNvPr id="99" name="CustomShape 5"/>
          <p:cNvSpPr/>
          <p:nvPr/>
        </p:nvSpPr>
        <p:spPr>
          <a:xfrm>
            <a:off x="6675480" y="2011320"/>
            <a:ext cx="4296960" cy="38160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gn="just"/>
            <a:r>
              <a:rPr b="0" lang="en-US" sz="2000" spc="-1" strike="noStrike">
                <a:solidFill>
                  <a:srgbClr val="000000"/>
                </a:solidFill>
                <a:uFill>
                  <a:solidFill>
                    <a:srgbClr val="ffffff"/>
                  </a:solidFill>
                </a:uFill>
                <a:latin typeface="Times New Roman"/>
                <a:ea typeface="Microsoft YaHei"/>
              </a:rPr>
              <a:t>It is important to note the </a:t>
            </a:r>
            <a:r>
              <a:rPr b="0" i="1" lang="en-US" sz="2000" spc="-1" strike="noStrike">
                <a:solidFill>
                  <a:srgbClr val="000000"/>
                </a:solidFill>
                <a:uFill>
                  <a:solidFill>
                    <a:srgbClr val="ffffff"/>
                  </a:solidFill>
                </a:uFill>
                <a:latin typeface="Times New Roman"/>
                <a:ea typeface="Microsoft YaHei"/>
              </a:rPr>
              <a:t>valueMap</a:t>
            </a:r>
            <a:r>
              <a:rPr b="0" lang="en-US" sz="2000" spc="-1" strike="noStrike">
                <a:solidFill>
                  <a:srgbClr val="000000"/>
                </a:solidFill>
                <a:uFill>
                  <a:solidFill>
                    <a:srgbClr val="ffffff"/>
                  </a:solidFill>
                </a:uFill>
                <a:latin typeface="Times New Roman"/>
                <a:ea typeface="Microsoft YaHei"/>
              </a:rPr>
              <a:t> field that is of type of associative array with the keys that are String objects and values that are Object objects themselves. Within this field, the values of the variables will be found. For example, we can have some variable "a" and then it is the key within this associative array, and the value for that variable or that key will be in the value for that key in an associative set depending on the current state of the program.</a:t>
            </a:r>
            <a:endParaRPr b="0" lang="en-US" sz="1800" spc="-1" strike="noStrike">
              <a:solidFill>
                <a:srgbClr val="000000"/>
              </a:solidFill>
              <a:uFill>
                <a:solidFill>
                  <a:srgbClr val="ffffff"/>
                </a:solidFill>
              </a:uFill>
              <a:latin typeface="Arial"/>
            </a:endParaRPr>
          </a:p>
        </p:txBody>
      </p:sp>
    </p:spTree>
  </p:cSld>
  <p:timing>
    <p:tnLst>
      <p:par>
        <p:cTn id="21" dur="indefinite" restart="never" nodeType="tmRoot">
          <p:childTnLst>
            <p:seq>
              <p:cTn id="22"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6. EXAMPLE PROGRAM </a:t>
            </a:r>
            <a:endParaRPr b="0" lang="en-US" sz="1800" spc="-1" strike="noStrike">
              <a:solidFill>
                <a:srgbClr val="000000"/>
              </a:solidFill>
              <a:uFill>
                <a:solidFill>
                  <a:srgbClr val="ffffff"/>
                </a:solidFill>
              </a:uFill>
              <a:latin typeface="Arial"/>
            </a:endParaRPr>
          </a:p>
        </p:txBody>
      </p:sp>
      <p:sp>
        <p:nvSpPr>
          <p:cNvPr id="101" name="CustomShape 2"/>
          <p:cNvSpPr/>
          <p:nvPr/>
        </p:nvSpPr>
        <p:spPr>
          <a:xfrm>
            <a:off x="1346040" y="1913040"/>
            <a:ext cx="9507240" cy="3706200"/>
          </a:xfrm>
          <a:prstGeom prst="rect">
            <a:avLst/>
          </a:prstGeom>
          <a:noFill/>
          <a:ln>
            <a:noFill/>
          </a:ln>
        </p:spPr>
        <p:style>
          <a:lnRef idx="0"/>
          <a:fillRef idx="0"/>
          <a:effectRef idx="0"/>
          <a:fontRef idx="minor"/>
        </p:style>
      </p:sp>
      <p:sp>
        <p:nvSpPr>
          <p:cNvPr id="102"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3921AB62-E8D5-46BE-BDF7-9A065EC3EFC6}"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pic>
        <p:nvPicPr>
          <p:cNvPr id="103" name="" descr=""/>
          <p:cNvPicPr/>
          <p:nvPr/>
        </p:nvPicPr>
        <p:blipFill>
          <a:blip r:embed="rId1"/>
          <a:stretch/>
        </p:blipFill>
        <p:spPr>
          <a:xfrm>
            <a:off x="1189080" y="2011320"/>
            <a:ext cx="5838480" cy="3409560"/>
          </a:xfrm>
          <a:prstGeom prst="rect">
            <a:avLst/>
          </a:prstGeom>
          <a:ln>
            <a:noFill/>
          </a:ln>
        </p:spPr>
      </p:pic>
      <p:sp>
        <p:nvSpPr>
          <p:cNvPr id="104" name="CustomShape 4"/>
          <p:cNvSpPr/>
          <p:nvPr/>
        </p:nvSpPr>
        <p:spPr>
          <a:xfrm>
            <a:off x="7315200" y="2103480"/>
            <a:ext cx="3839760" cy="32428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gn="just"/>
            <a:r>
              <a:rPr b="0" lang="en-US" sz="2000" spc="-1" strike="noStrike">
                <a:solidFill>
                  <a:srgbClr val="000000"/>
                </a:solidFill>
                <a:uFill>
                  <a:solidFill>
                    <a:srgbClr val="ffffff"/>
                  </a:solidFill>
                </a:uFill>
                <a:latin typeface="Times New Roman"/>
                <a:ea typeface="Microsoft YaHei"/>
              </a:rPr>
              <a:t>An easy-to-use java program was developed as an example of the utilization of the library. Several model classes will be constructed that will inherit from the Plac (Land) class and will represent residential, commercial or agricultural facilities. There will be some arbitrary variables that will be used to select the appropriate class from the class model.</a:t>
            </a:r>
            <a:endParaRPr b="0" lang="en-US" sz="1800" spc="-1" strike="noStrike">
              <a:solidFill>
                <a:srgbClr val="000000"/>
              </a:solidFill>
              <a:uFill>
                <a:solidFill>
                  <a:srgbClr val="ffffff"/>
                </a:solidFill>
              </a:uFill>
              <a:latin typeface="Arial"/>
            </a:endParaRPr>
          </a:p>
        </p:txBody>
      </p:sp>
    </p:spTree>
  </p:cSld>
  <p:timing>
    <p:tnLst>
      <p:par>
        <p:cTn id="23" dur="indefinite" restart="never" nodeType="tmRoot">
          <p:childTnLst>
            <p:seq>
              <p:cTn id="24"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6. EXAMPLE PROGRAM </a:t>
            </a:r>
            <a:endParaRPr b="0" lang="en-US" sz="1800" spc="-1" strike="noStrike">
              <a:solidFill>
                <a:srgbClr val="000000"/>
              </a:solidFill>
              <a:uFill>
                <a:solidFill>
                  <a:srgbClr val="ffffff"/>
                </a:solidFill>
              </a:uFill>
              <a:latin typeface="Arial"/>
            </a:endParaRPr>
          </a:p>
        </p:txBody>
      </p:sp>
      <p:sp>
        <p:nvSpPr>
          <p:cNvPr id="106" name="CustomShape 2"/>
          <p:cNvSpPr/>
          <p:nvPr/>
        </p:nvSpPr>
        <p:spPr>
          <a:xfrm>
            <a:off x="1346040" y="1913040"/>
            <a:ext cx="9507240" cy="3706200"/>
          </a:xfrm>
          <a:prstGeom prst="rect">
            <a:avLst/>
          </a:prstGeom>
          <a:noFill/>
          <a:ln>
            <a:noFill/>
          </a:ln>
        </p:spPr>
        <p:style>
          <a:lnRef idx="0"/>
          <a:fillRef idx="0"/>
          <a:effectRef idx="0"/>
          <a:fontRef idx="minor"/>
        </p:style>
      </p:sp>
      <p:sp>
        <p:nvSpPr>
          <p:cNvPr id="107"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14F9DD19-859E-4863-8FC4-CDA9A4C6351E}"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
        <p:nvSpPr>
          <p:cNvPr id="108" name="CustomShape 4"/>
          <p:cNvSpPr/>
          <p:nvPr/>
        </p:nvSpPr>
        <p:spPr>
          <a:xfrm>
            <a:off x="1346040" y="2011320"/>
            <a:ext cx="9626400" cy="32428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gn="just"/>
            <a:r>
              <a:rPr b="0" lang="en-US" sz="2000" spc="-1" strike="noStrike">
                <a:solidFill>
                  <a:srgbClr val="000000"/>
                </a:solidFill>
                <a:uFill>
                  <a:solidFill>
                    <a:srgbClr val="ffffff"/>
                  </a:solidFill>
                </a:uFill>
                <a:latin typeface="Times New Roman"/>
                <a:ea typeface="DejaVu Sans"/>
              </a:rPr>
              <a:t>The arbitrary variables that will be considered are the area, number of rooms and number of floors. Over these random variables, certain predicates will be set up using the JSON format and the Causality library. The effects of the Causality object will be String objects, which will then be passed to the static method </a:t>
            </a:r>
            <a:r>
              <a:rPr b="0" i="1" lang="en-US" sz="2000" spc="-1" strike="noStrike">
                <a:solidFill>
                  <a:srgbClr val="000000"/>
                </a:solidFill>
                <a:uFill>
                  <a:solidFill>
                    <a:srgbClr val="ffffff"/>
                  </a:solidFill>
                </a:uFill>
                <a:latin typeface="Times New Roman"/>
                <a:ea typeface="DejaVu Sans"/>
              </a:rPr>
              <a:t>create</a:t>
            </a:r>
            <a:r>
              <a:rPr b="0" lang="en-US" sz="2000" spc="-1" strike="noStrike">
                <a:solidFill>
                  <a:srgbClr val="000000"/>
                </a:solidFill>
                <a:uFill>
                  <a:solidFill>
                    <a:srgbClr val="ffffff"/>
                  </a:solidFill>
                </a:uFill>
                <a:latin typeface="Times New Roman"/>
                <a:ea typeface="DejaVu Sans"/>
              </a:rPr>
              <a:t> of the Plac class that uses the Factory pattern, which, based on the passed String object, selects the correct class that is a Plac or a subclass of the Plac class.</a:t>
            </a:r>
            <a:endParaRPr b="0" lang="en-US" sz="1800" spc="-1" strike="noStrike">
              <a:solidFill>
                <a:srgbClr val="000000"/>
              </a:solidFill>
              <a:uFill>
                <a:solidFill>
                  <a:srgbClr val="ffffff"/>
                </a:solidFill>
              </a:uFill>
              <a:latin typeface="Arial"/>
            </a:endParaRPr>
          </a:p>
          <a:p>
            <a:pPr algn="just"/>
            <a:endParaRPr b="0" lang="en-US" sz="1800" spc="-1" strike="noStrike">
              <a:solidFill>
                <a:srgbClr val="000000"/>
              </a:solidFill>
              <a:uFill>
                <a:solidFill>
                  <a:srgbClr val="ffffff"/>
                </a:solidFill>
              </a:uFill>
              <a:latin typeface="Arial"/>
            </a:endParaRPr>
          </a:p>
          <a:p>
            <a:pPr algn="just"/>
            <a:r>
              <a:rPr b="0" lang="en-US" sz="2000" spc="-1" strike="noStrike">
                <a:solidFill>
                  <a:srgbClr val="000000"/>
                </a:solidFill>
                <a:uFill>
                  <a:solidFill>
                    <a:srgbClr val="ffffff"/>
                  </a:solidFill>
                </a:uFill>
                <a:latin typeface="Times New Roman"/>
                <a:ea typeface="DejaVu Sans"/>
              </a:rPr>
              <a:t>The first level of selection corresponds to the search for an effect that can be a class of Plac, or type of Building, or type of Field or House type. If the effect of the first level is the type of Building or House type, the program will further bend to the next selection through newly defined rules from some other Causation data.</a:t>
            </a:r>
            <a:endParaRPr b="0" lang="en-US" sz="1800" spc="-1" strike="noStrike">
              <a:solidFill>
                <a:srgbClr val="000000"/>
              </a:solidFill>
              <a:uFill>
                <a:solidFill>
                  <a:srgbClr val="ffffff"/>
                </a:solidFill>
              </a:uFill>
              <a:latin typeface="Arial"/>
            </a:endParaRPr>
          </a:p>
        </p:txBody>
      </p:sp>
    </p:spTree>
  </p:cSld>
  <p:timing>
    <p:tnLst>
      <p:par>
        <p:cTn id="25" dur="indefinite" restart="never" nodeType="tmRoot">
          <p:childTnLst>
            <p:seq>
              <p:cTn id="26" nodeType="mainSeq"/>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6. EXAMPLE PROGRAM</a:t>
            </a:r>
            <a:endParaRPr b="0" lang="en-US" sz="1800" spc="-1" strike="noStrike">
              <a:solidFill>
                <a:srgbClr val="000000"/>
              </a:solidFill>
              <a:uFill>
                <a:solidFill>
                  <a:srgbClr val="ffffff"/>
                </a:solidFill>
              </a:uFill>
              <a:latin typeface="Arial"/>
            </a:endParaRPr>
          </a:p>
        </p:txBody>
      </p:sp>
      <p:sp>
        <p:nvSpPr>
          <p:cNvPr id="110" name="CustomShape 2"/>
          <p:cNvSpPr/>
          <p:nvPr/>
        </p:nvSpPr>
        <p:spPr>
          <a:xfrm>
            <a:off x="1346040" y="1913040"/>
            <a:ext cx="9507240" cy="3706200"/>
          </a:xfrm>
          <a:prstGeom prst="rect">
            <a:avLst/>
          </a:prstGeom>
          <a:noFill/>
          <a:ln>
            <a:noFill/>
          </a:ln>
        </p:spPr>
        <p:style>
          <a:lnRef idx="0"/>
          <a:fillRef idx="0"/>
          <a:effectRef idx="0"/>
          <a:fontRef idx="minor"/>
        </p:style>
      </p:sp>
      <p:sp>
        <p:nvSpPr>
          <p:cNvPr id="111"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C8707074-F666-473E-8ABB-FB6445FAB394}"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
        <p:nvSpPr>
          <p:cNvPr id="112" name="CustomShape 4"/>
          <p:cNvSpPr/>
          <p:nvPr/>
        </p:nvSpPr>
        <p:spPr>
          <a:xfrm>
            <a:off x="1463760" y="2011320"/>
            <a:ext cx="4389120" cy="38160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4000" bIns="45000"/>
          <a:p>
            <a:pPr>
              <a:lnSpc>
                <a:spcPct val="93000"/>
              </a:lnSpc>
            </a:pPr>
            <a:r>
              <a:rPr b="0" lang="en-US" sz="1000" spc="-1" strike="noStrike">
                <a:solidFill>
                  <a:srgbClr val="000000"/>
                </a:solidFill>
                <a:uFill>
                  <a:solidFill>
                    <a:srgbClr val="ffffff"/>
                  </a:solidFill>
                </a:uFill>
                <a:latin typeface="Arial"/>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"superCause"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"type"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"alwaysTrue"</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6a8759"/>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"causalities"</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"cause"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"type"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"cond"</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"key"</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"brojSpratova"</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"matcher"</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"type"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"numerical"</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"impl"</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6a8759"/>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"value"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897bb"/>
                </a:solidFill>
                <a:uFill>
                  <a:solidFill>
                    <a:srgbClr val="ffffff"/>
                  </a:solidFill>
                </a:uFill>
                <a:latin typeface="Courier New"/>
                <a:ea typeface="DejaVu Sans"/>
              </a:rPr>
              <a:t>1.0</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6897bb"/>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p:txBody>
      </p:sp>
      <p:sp>
        <p:nvSpPr>
          <p:cNvPr id="113" name="CustomShape 5"/>
          <p:cNvSpPr/>
          <p:nvPr/>
        </p:nvSpPr>
        <p:spPr>
          <a:xfrm>
            <a:off x="6035760" y="2011320"/>
            <a:ext cx="5028840" cy="39240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0840" bIns="45000"/>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"effect"</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"spratnakuca"</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6a8759"/>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"cause"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"type"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"cond"</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"key"</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"brojSpratova"</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"matcher"</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"type"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"numerical"</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"impl"</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6a8759"/>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"value"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897bb"/>
                </a:solidFill>
                <a:uFill>
                  <a:solidFill>
                    <a:srgbClr val="ffffff"/>
                  </a:solidFill>
                </a:uFill>
                <a:latin typeface="Courier New"/>
                <a:ea typeface="DejaVu Sans"/>
              </a:rPr>
              <a:t>2.0</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6897bb"/>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"effect"</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"dvospratnakuca"</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6a8759"/>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89000"/>
              </a:lnSpc>
            </a:pPr>
            <a:r>
              <a:rPr b="0" lang="en-US" sz="900" spc="-1" strike="noStrike">
                <a:solidFill>
                  <a:srgbClr val="a9b7c6"/>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9876aa"/>
                </a:solidFill>
                <a:uFill>
                  <a:solidFill>
                    <a:srgbClr val="ffffff"/>
                  </a:solidFill>
                </a:uFill>
                <a:latin typeface="Courier New"/>
                <a:ea typeface="DejaVu Sans"/>
              </a:rPr>
              <a:t>"otherwise"</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6a8759"/>
                </a:solidFill>
                <a:uFill>
                  <a:solidFill>
                    <a:srgbClr val="ffffff"/>
                  </a:solidFill>
                </a:uFill>
                <a:latin typeface="Courier New"/>
                <a:ea typeface="DejaVu Sans"/>
              </a:rPr>
              <a:t>"kuca"</a:t>
            </a:r>
            <a:endParaRPr b="0" lang="en-US" sz="1800" spc="-1" strike="noStrike">
              <a:solidFill>
                <a:srgbClr val="000000"/>
              </a:solidFill>
              <a:uFill>
                <a:solidFill>
                  <a:srgbClr val="ffffff"/>
                </a:solidFill>
              </a:uFill>
              <a:latin typeface="Arial"/>
            </a:endParaRPr>
          </a:p>
          <a:p>
            <a:pPr>
              <a:lnSpc>
                <a:spcPct val="93000"/>
              </a:lnSpc>
            </a:pPr>
            <a:r>
              <a:rPr b="0" lang="en-US" sz="900" spc="-1" strike="noStrike">
                <a:solidFill>
                  <a:srgbClr val="000000"/>
                </a:solidFill>
                <a:uFill>
                  <a:solidFill>
                    <a:srgbClr val="ffffff"/>
                  </a:solidFill>
                </a:uFill>
                <a:latin typeface="Arial"/>
                <a:ea typeface="DejaVu Sans"/>
              </a:rPr>
              <a:t>}</a:t>
            </a:r>
            <a:endParaRPr b="0" lang="en-US" sz="1800" spc="-1" strike="noStrike">
              <a:solidFill>
                <a:srgbClr val="000000"/>
              </a:solidFill>
              <a:uFill>
                <a:solidFill>
                  <a:srgbClr val="ffffff"/>
                </a:solidFill>
              </a:uFill>
              <a:latin typeface="Arial"/>
            </a:endParaRPr>
          </a:p>
        </p:txBody>
      </p:sp>
    </p:spTree>
  </p:cSld>
  <p:timing>
    <p:tnLst>
      <p:par>
        <p:cTn id="27" dur="indefinite" restart="never" nodeType="tmRoot">
          <p:childTnLst>
            <p:seq>
              <p:cTn id="28" nodeType="mainSeq"/>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6. EXAMPLE PROGRAM</a:t>
            </a:r>
            <a:endParaRPr b="0" lang="en-US" sz="1800" spc="-1" strike="noStrike">
              <a:solidFill>
                <a:srgbClr val="000000"/>
              </a:solidFill>
              <a:uFill>
                <a:solidFill>
                  <a:srgbClr val="ffffff"/>
                </a:solidFill>
              </a:uFill>
              <a:latin typeface="Arial"/>
            </a:endParaRPr>
          </a:p>
        </p:txBody>
      </p:sp>
      <p:sp>
        <p:nvSpPr>
          <p:cNvPr id="115" name="CustomShape 2"/>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17A818AC-250A-4CD7-9A28-86EAA1A2ED30}"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
        <p:nvSpPr>
          <p:cNvPr id="116" name="CustomShape 3"/>
          <p:cNvSpPr/>
          <p:nvPr/>
        </p:nvSpPr>
        <p:spPr>
          <a:xfrm>
            <a:off x="1371600" y="2103480"/>
            <a:ext cx="4936680" cy="18698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nSpc>
                <a:spcPct val="89000"/>
              </a:lnSpc>
            </a:pPr>
            <a:r>
              <a:rPr b="0" lang="en-US" sz="900" spc="-1" strike="noStrike">
                <a:solidFill>
                  <a:srgbClr val="cc7832"/>
                </a:solidFill>
                <a:uFill>
                  <a:solidFill>
                    <a:srgbClr val="ffffff"/>
                  </a:solidFill>
                </a:uFill>
                <a:latin typeface="Courier New"/>
                <a:ea typeface="DejaVu Sans"/>
              </a:rPr>
              <a:t>if </a:t>
            </a:r>
            <a:r>
              <a:rPr b="0" lang="en-US" sz="900" spc="-1" strike="noStrike">
                <a:solidFill>
                  <a:srgbClr val="a9b7c6"/>
                </a:solidFill>
                <a:uFill>
                  <a:solidFill>
                    <a:srgbClr val="ffffff"/>
                  </a:solidFill>
                </a:uFill>
                <a:latin typeface="Courier New"/>
                <a:ea typeface="DejaVu Sans"/>
              </a:rPr>
              <a:t>(p1 </a:t>
            </a:r>
            <a:r>
              <a:rPr b="0" lang="en-US" sz="900" spc="-1" strike="noStrike">
                <a:solidFill>
                  <a:srgbClr val="cc7832"/>
                </a:solidFill>
                <a:uFill>
                  <a:solidFill>
                    <a:srgbClr val="ffffff"/>
                  </a:solidFill>
                </a:uFill>
                <a:latin typeface="Courier New"/>
                <a:ea typeface="DejaVu Sans"/>
              </a:rPr>
              <a:t>instanceof </a:t>
            </a:r>
            <a:r>
              <a:rPr b="0" lang="en-US" sz="900" spc="-1" strike="noStrike">
                <a:solidFill>
                  <a:srgbClr val="a9b7c6"/>
                </a:solidFill>
                <a:uFill>
                  <a:solidFill>
                    <a:srgbClr val="ffffff"/>
                  </a:solidFill>
                </a:uFill>
                <a:latin typeface="Courier New"/>
                <a:ea typeface="DejaVu Sans"/>
              </a:rPr>
              <a:t>Kuca) {</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a9b7c6"/>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Causation&lt;String&gt; causation2 = Causation.</a:t>
            </a:r>
            <a:r>
              <a:rPr b="0" i="1" lang="en-US" sz="900" spc="-1" strike="noStrike">
                <a:solidFill>
                  <a:srgbClr val="a9b7c6"/>
                </a:solidFill>
                <a:uFill>
                  <a:solidFill>
                    <a:srgbClr val="ffffff"/>
                  </a:solidFill>
                </a:uFill>
                <a:latin typeface="Courier New"/>
                <a:ea typeface="DejaVu Sans"/>
              </a:rPr>
              <a:t>create</a:t>
            </a:r>
            <a:r>
              <a:rPr b="0" lang="en-US" sz="900" spc="-1" strike="noStrike">
                <a:solidFill>
                  <a:srgbClr val="a9b7c6"/>
                </a:solidFill>
                <a:uFill>
                  <a:solidFill>
                    <a:srgbClr val="ffffff"/>
                  </a:solidFill>
                </a:uFill>
                <a:latin typeface="Courier New"/>
                <a:ea typeface="DejaVu Sans"/>
              </a:rPr>
              <a:t>(Main.</a:t>
            </a:r>
            <a:r>
              <a:rPr b="0" lang="en-US" sz="900" spc="-1" strike="noStrike">
                <a:solidFill>
                  <a:srgbClr val="cc7832"/>
                </a:solidFill>
                <a:uFill>
                  <a:solidFill>
                    <a:srgbClr val="ffffff"/>
                  </a:solidFill>
                </a:uFill>
                <a:latin typeface="Courier New"/>
                <a:ea typeface="DejaVu Sans"/>
              </a:rPr>
              <a:t>class</a:t>
            </a:r>
            <a:r>
              <a:rPr b="0" lang="en-US" sz="900" spc="-1" strike="noStrike">
                <a:solidFill>
                  <a:srgbClr val="a9b7c6"/>
                </a:solidFill>
                <a:uFill>
                  <a:solidFill>
                    <a:srgbClr val="ffffff"/>
                  </a:solidFill>
                </a:uFill>
                <a:latin typeface="Courier New"/>
                <a:ea typeface="DejaVu Sans"/>
              </a:rPr>
              <a:t>.getResourceAsStream(</a:t>
            </a:r>
            <a:r>
              <a:rPr b="0" lang="en-US" sz="900" spc="-1" strike="noStrike">
                <a:solidFill>
                  <a:srgbClr val="6a8759"/>
                </a:solidFill>
                <a:uFill>
                  <a:solidFill>
                    <a:srgbClr val="ffffff"/>
                  </a:solidFill>
                </a:uFill>
                <a:latin typeface="Courier New"/>
                <a:ea typeface="DejaVu Sans"/>
              </a:rPr>
              <a:t>"/c2.json"</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String.</a:t>
            </a:r>
            <a:r>
              <a:rPr b="0" lang="en-US" sz="900" spc="-1" strike="noStrike">
                <a:solidFill>
                  <a:srgbClr val="cc7832"/>
                </a:solidFill>
                <a:uFill>
                  <a:solidFill>
                    <a:srgbClr val="ffffff"/>
                  </a:solidFill>
                </a:uFill>
                <a:latin typeface="Courier New"/>
                <a:ea typeface="DejaVu Sans"/>
              </a:rPr>
              <a:t>class</a:t>
            </a:r>
            <a:r>
              <a:rPr b="0" lang="en-US" sz="900" spc="-1" strike="noStrike">
                <a:solidFill>
                  <a:srgbClr val="a9b7c6"/>
                </a:solidFill>
                <a:uFill>
                  <a:solidFill>
                    <a:srgbClr val="ffffff"/>
                  </a:solidFill>
                </a:uFill>
                <a:latin typeface="Courier New"/>
                <a:ea typeface="DejaVu Sans"/>
              </a:rPr>
              <a: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causation2.put(</a:t>
            </a:r>
            <a:r>
              <a:rPr b="0" lang="en-US" sz="900" spc="-1" strike="noStrike">
                <a:solidFill>
                  <a:srgbClr val="6a8759"/>
                </a:solidFill>
                <a:uFill>
                  <a:solidFill>
                    <a:srgbClr val="ffffff"/>
                  </a:solidFill>
                </a:uFill>
                <a:latin typeface="Courier New"/>
                <a:ea typeface="DejaVu Sans"/>
              </a:rPr>
              <a:t>"povrsina"</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povrsina)</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causation2.put(</a:t>
            </a:r>
            <a:r>
              <a:rPr b="0" lang="en-US" sz="900" spc="-1" strike="noStrike">
                <a:solidFill>
                  <a:srgbClr val="6a8759"/>
                </a:solidFill>
                <a:uFill>
                  <a:solidFill>
                    <a:srgbClr val="ffffff"/>
                  </a:solidFill>
                </a:uFill>
                <a:latin typeface="Courier New"/>
                <a:ea typeface="DejaVu Sans"/>
              </a:rPr>
              <a:t>"brojSoba"</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brojSoba)</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causation2.put(</a:t>
            </a:r>
            <a:r>
              <a:rPr b="0" lang="en-US" sz="900" spc="-1" strike="noStrike">
                <a:solidFill>
                  <a:srgbClr val="6a8759"/>
                </a:solidFill>
                <a:uFill>
                  <a:solidFill>
                    <a:srgbClr val="ffffff"/>
                  </a:solidFill>
                </a:uFill>
                <a:latin typeface="Courier New"/>
                <a:ea typeface="DejaVu Sans"/>
              </a:rPr>
              <a:t>"brojSpratova"</a:t>
            </a:r>
            <a:r>
              <a:rPr b="0" lang="en-US" sz="900" spc="-1" strike="noStrike">
                <a:solidFill>
                  <a:srgbClr val="cc7832"/>
                </a:solidFill>
                <a:uFill>
                  <a:solidFill>
                    <a:srgbClr val="ffffff"/>
                  </a:solidFill>
                </a:uFill>
                <a:latin typeface="Courier New"/>
                <a:ea typeface="DejaVu Sans"/>
              </a:rPr>
              <a:t>, </a:t>
            </a:r>
            <a:r>
              <a:rPr b="0" lang="en-US" sz="900" spc="-1" strike="noStrike">
                <a:solidFill>
                  <a:srgbClr val="a9b7c6"/>
                </a:solidFill>
                <a:uFill>
                  <a:solidFill>
                    <a:srgbClr val="ffffff"/>
                  </a:solidFill>
                </a:uFill>
                <a:latin typeface="Courier New"/>
                <a:ea typeface="DejaVu Sans"/>
              </a:rPr>
              <a:t>brojSpratova)</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1800" spc="-1" strike="noStrike">
                <a:solidFill>
                  <a:srgbClr val="cc7832"/>
                </a:solidFill>
                <a:uFill>
                  <a:solidFill>
                    <a:srgbClr val="ffffff"/>
                  </a:solidFill>
                </a:uFill>
                <a:latin typeface="Arial"/>
                <a:ea typeface="DejaVu Sans"/>
              </a:rPr>
              <a:t>    </a:t>
            </a:r>
            <a:r>
              <a:rPr b="0" lang="en-US" sz="900" spc="-1" strike="noStrike">
                <a:solidFill>
                  <a:srgbClr val="a9b7c6"/>
                </a:solidFill>
                <a:uFill>
                  <a:solidFill>
                    <a:srgbClr val="ffffff"/>
                  </a:solidFill>
                </a:uFill>
                <a:latin typeface="Courier New"/>
                <a:ea typeface="DejaVu Sans"/>
              </a:rPr>
              <a:t>Plac p2 = Plac.</a:t>
            </a:r>
            <a:r>
              <a:rPr b="0" i="1" lang="en-US" sz="900" spc="-1" strike="noStrike">
                <a:solidFill>
                  <a:srgbClr val="a9b7c6"/>
                </a:solidFill>
                <a:uFill>
                  <a:solidFill>
                    <a:srgbClr val="ffffff"/>
                  </a:solidFill>
                </a:uFill>
                <a:latin typeface="Courier New"/>
                <a:ea typeface="DejaVu Sans"/>
              </a:rPr>
              <a:t>create</a:t>
            </a:r>
            <a:r>
              <a:rPr b="0" lang="en-US" sz="900" spc="-1" strike="noStrike">
                <a:solidFill>
                  <a:srgbClr val="a9b7c6"/>
                </a:solidFill>
                <a:uFill>
                  <a:solidFill>
                    <a:srgbClr val="ffffff"/>
                  </a:solidFill>
                </a:uFill>
                <a:latin typeface="Courier New"/>
                <a:ea typeface="DejaVu Sans"/>
              </a:rPr>
              <a:t>(causation2.getEffect())</a:t>
            </a:r>
            <a:r>
              <a:rPr b="0" lang="en-US" sz="900" spc="-1" strike="noStrike">
                <a:solidFill>
                  <a:srgbClr val="cc7832"/>
                </a:solidFill>
                <a:uFill>
                  <a:solidFill>
                    <a:srgbClr val="ffffff"/>
                  </a:solidFill>
                </a:uFill>
                <a:latin typeface="Courier New"/>
                <a:ea typeface="DejaVu Sans"/>
              </a:rPr>
              <a:t>;</a:t>
            </a:r>
            <a:endParaRPr b="0" lang="en-US" sz="1800" spc="-1" strike="noStrike">
              <a:solidFill>
                <a:srgbClr val="000000"/>
              </a:solidFill>
              <a:uFill>
                <a:solidFill>
                  <a:srgbClr val="ffffff"/>
                </a:solidFill>
              </a:uFill>
              <a:latin typeface="Arial"/>
            </a:endParaRPr>
          </a:p>
          <a:p>
            <a:pPr>
              <a:lnSpc>
                <a:spcPct val="93000"/>
              </a:lnSpc>
            </a:pPr>
            <a:r>
              <a:rPr b="0" lang="en-US" sz="900" spc="-1" strike="noStrike">
                <a:solidFill>
                  <a:srgbClr val="000000"/>
                </a:solidFill>
                <a:uFill>
                  <a:solidFill>
                    <a:srgbClr val="ffffff"/>
                  </a:solidFill>
                </a:uFill>
                <a:latin typeface="Arial"/>
                <a:ea typeface="DejaVu Sans"/>
              </a:rPr>
              <a:t>}</a:t>
            </a:r>
            <a:endParaRPr b="0" lang="en-US" sz="1800" spc="-1" strike="noStrike">
              <a:solidFill>
                <a:srgbClr val="000000"/>
              </a:solidFill>
              <a:uFill>
                <a:solidFill>
                  <a:srgbClr val="ffffff"/>
                </a:solidFill>
              </a:uFill>
              <a:latin typeface="Arial"/>
            </a:endParaRPr>
          </a:p>
        </p:txBody>
      </p:sp>
      <p:sp>
        <p:nvSpPr>
          <p:cNvPr id="117" name="CustomShape 4"/>
          <p:cNvSpPr/>
          <p:nvPr/>
        </p:nvSpPr>
        <p:spPr>
          <a:xfrm>
            <a:off x="5943600" y="2103480"/>
            <a:ext cx="5028840" cy="32428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57600" bIns="45000"/>
          <a:p>
            <a:pPr algn="just"/>
            <a:r>
              <a:rPr b="0" lang="en-US" sz="2000" spc="-1" strike="noStrike">
                <a:solidFill>
                  <a:srgbClr val="000000"/>
                </a:solidFill>
                <a:uFill>
                  <a:solidFill>
                    <a:srgbClr val="ffffff"/>
                  </a:solidFill>
                </a:uFill>
                <a:latin typeface="Times New Roman"/>
                <a:ea typeface="Microsoft YaHei"/>
              </a:rPr>
              <a:t>If the type of object </a:t>
            </a:r>
            <a:r>
              <a:rPr b="0" i="1" lang="en-US" sz="2000" spc="-1" strike="noStrike">
                <a:solidFill>
                  <a:srgbClr val="000000"/>
                </a:solidFill>
                <a:uFill>
                  <a:solidFill>
                    <a:srgbClr val="ffffff"/>
                  </a:solidFill>
                </a:uFill>
                <a:latin typeface="Times New Roman"/>
                <a:ea typeface="Microsoft YaHei"/>
              </a:rPr>
              <a:t>p1</a:t>
            </a:r>
            <a:r>
              <a:rPr b="0" lang="en-US" sz="2000" spc="-1" strike="noStrike">
                <a:solidFill>
                  <a:srgbClr val="000000"/>
                </a:solidFill>
                <a:uFill>
                  <a:solidFill>
                    <a:srgbClr val="ffffff"/>
                  </a:solidFill>
                </a:uFill>
                <a:latin typeface="Times New Roman"/>
                <a:ea typeface="Microsoft YaHei"/>
              </a:rPr>
              <a:t> is House, this part of the code is executed. First, the </a:t>
            </a:r>
            <a:r>
              <a:rPr b="0" i="1" lang="en-US" sz="2000" spc="-1" strike="noStrike">
                <a:solidFill>
                  <a:srgbClr val="000000"/>
                </a:solidFill>
                <a:uFill>
                  <a:solidFill>
                    <a:srgbClr val="ffffff"/>
                  </a:solidFill>
                </a:uFill>
                <a:latin typeface="Times New Roman"/>
                <a:ea typeface="Microsoft YaHei"/>
              </a:rPr>
              <a:t>c2.json</a:t>
            </a:r>
            <a:r>
              <a:rPr b="0" lang="en-US" sz="2000" spc="-1" strike="noStrike">
                <a:solidFill>
                  <a:srgbClr val="000000"/>
                </a:solidFill>
                <a:uFill>
                  <a:solidFill>
                    <a:srgbClr val="ffffff"/>
                  </a:solidFill>
                </a:uFill>
                <a:latin typeface="Times New Roman"/>
                <a:ea typeface="Microsoft YaHei"/>
              </a:rPr>
              <a:t> data is read and parsed as a Causation object typed over the String class. After that, this Causation object, </a:t>
            </a:r>
            <a:r>
              <a:rPr b="0" i="1" lang="en-US" sz="2000" spc="-1" strike="noStrike">
                <a:solidFill>
                  <a:srgbClr val="000000"/>
                </a:solidFill>
                <a:uFill>
                  <a:solidFill>
                    <a:srgbClr val="ffffff"/>
                  </a:solidFill>
                </a:uFill>
                <a:latin typeface="Times New Roman"/>
                <a:ea typeface="Microsoft YaHei"/>
              </a:rPr>
              <a:t>causation2</a:t>
            </a:r>
            <a:r>
              <a:rPr b="0" lang="en-US" sz="2000" spc="-1" strike="noStrike">
                <a:solidFill>
                  <a:srgbClr val="000000"/>
                </a:solidFill>
                <a:uFill>
                  <a:solidFill>
                    <a:srgbClr val="ffffff"/>
                  </a:solidFill>
                </a:uFill>
                <a:latin typeface="Times New Roman"/>
                <a:ea typeface="Microsoft YaHei"/>
              </a:rPr>
              <a:t>, sets values within its </a:t>
            </a:r>
            <a:r>
              <a:rPr b="0" i="1" lang="en-US" sz="2000" spc="-1" strike="noStrike">
                <a:solidFill>
                  <a:srgbClr val="000000"/>
                </a:solidFill>
                <a:uFill>
                  <a:solidFill>
                    <a:srgbClr val="ffffff"/>
                  </a:solidFill>
                </a:uFill>
                <a:latin typeface="Times New Roman"/>
                <a:ea typeface="Microsoft YaHei"/>
              </a:rPr>
              <a:t>valueMap</a:t>
            </a:r>
            <a:r>
              <a:rPr b="0" lang="en-US" sz="2000" spc="-1" strike="noStrike">
                <a:solidFill>
                  <a:srgbClr val="000000"/>
                </a:solidFill>
                <a:uFill>
                  <a:solidFill>
                    <a:srgbClr val="ffffff"/>
                  </a:solidFill>
                </a:uFill>
                <a:latin typeface="Times New Roman"/>
                <a:ea typeface="Microsoft YaHei"/>
              </a:rPr>
              <a:t> object with the forwarded arguments in the program. Finally, you can get the effect of the String object type, which is passed to the factory method from the Plac class, and this gives an object that can be a type of House, SpratnaKuca or DvospratnaKuca.</a:t>
            </a:r>
            <a:endParaRPr b="0" lang="en-US" sz="1800" spc="-1" strike="noStrike">
              <a:solidFill>
                <a:srgbClr val="000000"/>
              </a:solidFill>
              <a:uFill>
                <a:solidFill>
                  <a:srgbClr val="ffffff"/>
                </a:solidFill>
              </a:uFill>
              <a:latin typeface="Arial"/>
            </a:endParaRPr>
          </a:p>
        </p:txBody>
      </p:sp>
    </p:spTree>
  </p:cSld>
  <p:timing>
    <p:tnLst>
      <p:par>
        <p:cTn id="29" dur="indefinite" restart="never" nodeType="tmRoot">
          <p:childTnLst>
            <p:seq>
              <p:cTn id="30" nodeType="mainSeq"/>
              <p:prevCondLst>
                <p:cond delay="0" evt="onPrev">
                  <p:tgtEl>
                    <p:sldTgt/>
                  </p:tgtEl>
                </p:cond>
              </p:prevCondLst>
              <p:nextCondLst>
                <p:cond delay="0"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6. EXAMPLE PROGRAM </a:t>
            </a:r>
            <a:endParaRPr b="0" lang="en-US" sz="1800" spc="-1" strike="noStrike">
              <a:solidFill>
                <a:srgbClr val="000000"/>
              </a:solidFill>
              <a:uFill>
                <a:solidFill>
                  <a:srgbClr val="ffffff"/>
                </a:solidFill>
              </a:uFill>
              <a:latin typeface="Arial"/>
            </a:endParaRPr>
          </a:p>
        </p:txBody>
      </p:sp>
      <p:sp>
        <p:nvSpPr>
          <p:cNvPr id="119" name="CustomShape 2"/>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5CEC6B6C-D71B-47E7-9CB3-C193142CCAED}"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pic>
        <p:nvPicPr>
          <p:cNvPr id="120" name="" descr=""/>
          <p:cNvPicPr/>
          <p:nvPr/>
        </p:nvPicPr>
        <p:blipFill>
          <a:blip r:embed="rId1"/>
          <a:stretch/>
        </p:blipFill>
        <p:spPr>
          <a:xfrm>
            <a:off x="2193840" y="1758960"/>
            <a:ext cx="7824600" cy="5154120"/>
          </a:xfrm>
          <a:prstGeom prst="rect">
            <a:avLst/>
          </a:prstGeom>
          <a:ln>
            <a:noFill/>
          </a:ln>
        </p:spPr>
      </p:pic>
    </p:spTree>
  </p:cSld>
  <p:timing>
    <p:tnLst>
      <p:par>
        <p:cTn id="31" dur="indefinite" restart="never" nodeType="tmRoot">
          <p:childTnLst>
            <p:seq>
              <p:cTn id="32" nodeType="mainSeq"/>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7. CONCLUSION</a:t>
            </a:r>
            <a:endParaRPr b="0" lang="en-US" sz="1800" spc="-1" strike="noStrike">
              <a:solidFill>
                <a:srgbClr val="000000"/>
              </a:solidFill>
              <a:uFill>
                <a:solidFill>
                  <a:srgbClr val="ffffff"/>
                </a:solidFill>
              </a:uFill>
              <a:latin typeface="Arial"/>
            </a:endParaRPr>
          </a:p>
        </p:txBody>
      </p:sp>
      <p:sp>
        <p:nvSpPr>
          <p:cNvPr id="122" name="CustomShape 2"/>
          <p:cNvSpPr/>
          <p:nvPr/>
        </p:nvSpPr>
        <p:spPr>
          <a:xfrm>
            <a:off x="1346040" y="1805040"/>
            <a:ext cx="9507240" cy="3706200"/>
          </a:xfrm>
          <a:prstGeom prst="rect">
            <a:avLst/>
          </a:prstGeom>
          <a:noFill/>
          <a:ln>
            <a:noFill/>
          </a:ln>
        </p:spPr>
        <p:style>
          <a:lnRef idx="0"/>
          <a:fillRef idx="0"/>
          <a:effectRef idx="0"/>
          <a:fontRef idx="minor"/>
        </p:style>
        <p:txBody>
          <a:bodyPr lIns="90000" rIns="90000" tIns="122040" bIns="122040"/>
          <a:p>
            <a:pPr algn="just"/>
            <a:r>
              <a:rPr b="0" lang="en-US" sz="1800" spc="-1" strike="noStrike">
                <a:solidFill>
                  <a:srgbClr val="000000"/>
                </a:solidFill>
                <a:uFill>
                  <a:solidFill>
                    <a:srgbClr val="ffffff"/>
                  </a:solidFill>
                </a:uFill>
                <a:latin typeface="Times New Roman"/>
                <a:ea typeface="DejaVu Sans"/>
              </a:rPr>
              <a:t>In this paper a Java library called Causaility (causality or causality) was introduced. This name is chosen because the effect of the library resembles that term; the predetermined predicate chooses a subclass of an superclass which corresponds to the effect or consequence.</a:t>
            </a:r>
            <a:endParaRPr b="0" lang="en-US" sz="1800" spc="-1" strike="noStrike">
              <a:solidFill>
                <a:srgbClr val="000000"/>
              </a:solidFill>
              <a:uFill>
                <a:solidFill>
                  <a:srgbClr val="ffffff"/>
                </a:solidFill>
              </a:uFill>
              <a:latin typeface="Arial"/>
            </a:endParaRPr>
          </a:p>
          <a:p>
            <a:pPr algn="just"/>
            <a:endParaRPr b="0" lang="en-US" sz="1800" spc="-1" strike="noStrike">
              <a:solidFill>
                <a:srgbClr val="000000"/>
              </a:solidFill>
              <a:uFill>
                <a:solidFill>
                  <a:srgbClr val="ffffff"/>
                </a:solidFill>
              </a:uFill>
              <a:latin typeface="Arial"/>
            </a:endParaRPr>
          </a:p>
          <a:p>
            <a:pPr algn="just"/>
            <a:r>
              <a:rPr b="0" lang="en-US" sz="1800" spc="-1" strike="noStrike">
                <a:solidFill>
                  <a:srgbClr val="000000"/>
                </a:solidFill>
                <a:uFill>
                  <a:solidFill>
                    <a:srgbClr val="ffffff"/>
                  </a:solidFill>
                </a:uFill>
                <a:latin typeface="Times New Roman"/>
                <a:ea typeface="DejaVu Sans"/>
              </a:rPr>
              <a:t>A formal system or logical account is a properly defined system of abstract thought based on a mathematical model. The mathematical settings for this library are also given in the chapter on mathematical settings.</a:t>
            </a:r>
            <a:endParaRPr b="0" lang="en-US" sz="1800" spc="-1" strike="noStrike">
              <a:solidFill>
                <a:srgbClr val="000000"/>
              </a:solidFill>
              <a:uFill>
                <a:solidFill>
                  <a:srgbClr val="ffffff"/>
                </a:solidFill>
              </a:uFill>
              <a:latin typeface="Arial"/>
            </a:endParaRPr>
          </a:p>
          <a:p>
            <a:pPr algn="just"/>
            <a:endParaRPr b="0" lang="en-US" sz="1800" spc="-1" strike="noStrike">
              <a:solidFill>
                <a:srgbClr val="000000"/>
              </a:solidFill>
              <a:uFill>
                <a:solidFill>
                  <a:srgbClr val="ffffff"/>
                </a:solidFill>
              </a:uFill>
              <a:latin typeface="Arial"/>
            </a:endParaRPr>
          </a:p>
          <a:p>
            <a:pPr algn="just"/>
            <a:r>
              <a:rPr b="0" lang="en-US" sz="1800" spc="-1" strike="noStrike">
                <a:solidFill>
                  <a:srgbClr val="000000"/>
                </a:solidFill>
                <a:uFill>
                  <a:solidFill>
                    <a:srgbClr val="ffffff"/>
                  </a:solidFill>
                </a:uFill>
                <a:latin typeface="Times New Roman"/>
                <a:ea typeface="DejaVu Sans"/>
              </a:rPr>
              <a:t>Predicate classes are class implementations of Predicate interfaces and they represent the predicate abstraction. Matching classes are so-called "matcher" classes of a type T and they in some way compare two values of type T. The classes of causality are higher-class classes in the library that deal with the already mentioned classes and interfaces and serve for JSON parsing and selecting the right effects across predicates that compare arbitrary variables.</a:t>
            </a:r>
            <a:endParaRPr b="0" lang="en-US" sz="1800" spc="-1" strike="noStrike">
              <a:solidFill>
                <a:srgbClr val="000000"/>
              </a:solidFill>
              <a:uFill>
                <a:solidFill>
                  <a:srgbClr val="ffffff"/>
                </a:solidFill>
              </a:uFill>
              <a:latin typeface="Arial"/>
            </a:endParaRPr>
          </a:p>
        </p:txBody>
      </p:sp>
      <p:sp>
        <p:nvSpPr>
          <p:cNvPr id="123"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CBA5E741-8F6C-40FC-AD4D-4C9E657B81D5}"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Tree>
  </p:cSld>
  <p:timing>
    <p:tnLst>
      <p:par>
        <p:cTn id="33" dur="indefinite" restart="never" nodeType="tmRoot">
          <p:childTnLst>
            <p:seq>
              <p:cTn id="34" nodeType="mainSeq"/>
              <p:prevCondLst>
                <p:cond delay="0" evt="onPrev">
                  <p:tgtEl>
                    <p:sldTgt/>
                  </p:tgtEl>
                </p:cond>
              </p:prevCondLst>
              <p:nextCondLst>
                <p:cond delay="0"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7. CONCLUSION</a:t>
            </a:r>
            <a:endParaRPr b="0" lang="en-US" sz="1800" spc="-1" strike="noStrike">
              <a:solidFill>
                <a:srgbClr val="000000"/>
              </a:solidFill>
              <a:uFill>
                <a:solidFill>
                  <a:srgbClr val="ffffff"/>
                </a:solidFill>
              </a:uFill>
              <a:latin typeface="Arial"/>
            </a:endParaRPr>
          </a:p>
        </p:txBody>
      </p:sp>
      <p:sp>
        <p:nvSpPr>
          <p:cNvPr id="125" name="CustomShape 2"/>
          <p:cNvSpPr/>
          <p:nvPr/>
        </p:nvSpPr>
        <p:spPr>
          <a:xfrm>
            <a:off x="1346040" y="1913040"/>
            <a:ext cx="9507240" cy="3706200"/>
          </a:xfrm>
          <a:prstGeom prst="rect">
            <a:avLst/>
          </a:prstGeom>
          <a:noFill/>
          <a:ln>
            <a:noFill/>
          </a:ln>
        </p:spPr>
        <p:style>
          <a:lnRef idx="0"/>
          <a:fillRef idx="0"/>
          <a:effectRef idx="0"/>
          <a:fontRef idx="minor"/>
        </p:style>
        <p:txBody>
          <a:bodyPr lIns="90000" rIns="90000" tIns="122040" bIns="122040"/>
          <a:p>
            <a:pPr algn="just"/>
            <a:r>
              <a:rPr b="0" lang="en-US" sz="1800" spc="-1" strike="noStrike">
                <a:solidFill>
                  <a:srgbClr val="000000"/>
                </a:solidFill>
                <a:uFill>
                  <a:solidFill>
                    <a:srgbClr val="ffffff"/>
                  </a:solidFill>
                </a:uFill>
                <a:latin typeface="Times New Roman"/>
                <a:ea typeface="DejaVu Sans"/>
              </a:rPr>
              <a:t>The preceding chapter presents an example of a program that uses this library to determine the type of land based on forwarded parameters. Since there are several levels of decision-making, there is a branching which is tabulated through several iterations.</a:t>
            </a:r>
            <a:endParaRPr b="0" lang="en-US" sz="1800" spc="-1" strike="noStrike">
              <a:solidFill>
                <a:srgbClr val="000000"/>
              </a:solidFill>
              <a:uFill>
                <a:solidFill>
                  <a:srgbClr val="ffffff"/>
                </a:solidFill>
              </a:uFill>
              <a:latin typeface="Arial"/>
            </a:endParaRPr>
          </a:p>
          <a:p>
            <a:pPr algn="just"/>
            <a:endParaRPr b="0" lang="en-US" sz="1800" spc="-1" strike="noStrike">
              <a:solidFill>
                <a:srgbClr val="000000"/>
              </a:solidFill>
              <a:uFill>
                <a:solidFill>
                  <a:srgbClr val="ffffff"/>
                </a:solidFill>
              </a:uFill>
              <a:latin typeface="Arial"/>
            </a:endParaRPr>
          </a:p>
          <a:p>
            <a:pPr algn="just"/>
            <a:r>
              <a:rPr b="0" lang="en-US" sz="1800" spc="-1" strike="noStrike">
                <a:solidFill>
                  <a:srgbClr val="000000"/>
                </a:solidFill>
                <a:uFill>
                  <a:solidFill>
                    <a:srgbClr val="ffffff"/>
                  </a:solidFill>
                </a:uFill>
                <a:latin typeface="Times New Roman"/>
                <a:ea typeface="DejaVu Sans"/>
              </a:rPr>
              <a:t>Further improvements to the Causality library could relate to branching support with a single causality class, so that the Causation object could actually consist of several Causation objects and thus divide the effects within a single Causation object meaning that no more Causation objects should be used as shown in the example from the previous chapter.</a:t>
            </a:r>
            <a:endParaRPr b="0" lang="en-US" sz="1800" spc="-1" strike="noStrike">
              <a:solidFill>
                <a:srgbClr val="000000"/>
              </a:solidFill>
              <a:uFill>
                <a:solidFill>
                  <a:srgbClr val="ffffff"/>
                </a:solidFill>
              </a:uFill>
              <a:latin typeface="Arial"/>
            </a:endParaRPr>
          </a:p>
          <a:p>
            <a:pPr algn="just"/>
            <a:endParaRPr b="0" lang="en-US" sz="1800" spc="-1" strike="noStrike">
              <a:solidFill>
                <a:srgbClr val="000000"/>
              </a:solidFill>
              <a:uFill>
                <a:solidFill>
                  <a:srgbClr val="ffffff"/>
                </a:solidFill>
              </a:uFill>
              <a:latin typeface="Arial"/>
            </a:endParaRPr>
          </a:p>
          <a:p>
            <a:pPr algn="just"/>
            <a:r>
              <a:rPr b="0" lang="en-US" sz="1800" spc="-1" strike="noStrike">
                <a:solidFill>
                  <a:srgbClr val="000000"/>
                </a:solidFill>
                <a:uFill>
                  <a:solidFill>
                    <a:srgbClr val="ffffff"/>
                  </a:solidFill>
                </a:uFill>
                <a:latin typeface="Times New Roman"/>
                <a:ea typeface="DejaVu Sans"/>
              </a:rPr>
              <a:t>It is also important to note that this library is dependent on another open-source library, fasterxml-jackson version 2.7.0, which is used to parse JSON text formats. The reason is that this library comes with its JSON parser that is used to determine the Causation object in a text format. Further improvement would be the writing of custom AST parser for a plain formal-predicate mathematical inscription that would contribute to greater readability.</a:t>
            </a:r>
            <a:endParaRPr b="0" lang="en-US" sz="1800" spc="-1" strike="noStrike">
              <a:solidFill>
                <a:srgbClr val="000000"/>
              </a:solidFill>
              <a:uFill>
                <a:solidFill>
                  <a:srgbClr val="ffffff"/>
                </a:solidFill>
              </a:uFill>
              <a:latin typeface="Arial"/>
            </a:endParaRPr>
          </a:p>
        </p:txBody>
      </p:sp>
      <p:sp>
        <p:nvSpPr>
          <p:cNvPr id="126"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4729F00B-A01B-41CC-B4C1-DEC1BA2B0BAF}"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Tree>
  </p:cSld>
  <p:timing>
    <p:tnLst>
      <p:par>
        <p:cTn id="35" dur="indefinite" restart="never" nodeType="tmRoot">
          <p:childTnLst>
            <p:seq>
              <p:cTn id="36" nodeType="mainSeq"/>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CustomShape 1"/>
          <p:cNvSpPr/>
          <p:nvPr/>
        </p:nvSpPr>
        <p:spPr>
          <a:xfrm>
            <a:off x="1346040" y="865080"/>
            <a:ext cx="9507240" cy="893520"/>
          </a:xfrm>
          <a:prstGeom prst="rect">
            <a:avLst/>
          </a:prstGeom>
          <a:noFill/>
          <a:ln>
            <a:noFill/>
          </a:ln>
        </p:spPr>
        <p:style>
          <a:lnRef idx="0"/>
          <a:fillRef idx="0"/>
          <a:effectRef idx="0"/>
          <a:fontRef idx="minor"/>
        </p:style>
        <p:txBody>
          <a:bodyPr lIns="90000" rIns="90000" tIns="122040" bIns="122040" anchor="b"/>
          <a:p>
            <a:pPr>
              <a:lnSpc>
                <a:spcPct val="100000"/>
              </a:lnSpc>
            </a:pPr>
            <a:r>
              <a:rPr b="1" lang="en-US" sz="4400" spc="-1" strike="noStrike">
                <a:solidFill>
                  <a:srgbClr val="ffffff"/>
                </a:solidFill>
                <a:uFill>
                  <a:solidFill>
                    <a:srgbClr val="ffffff"/>
                  </a:solidFill>
                </a:uFill>
                <a:latin typeface="Times New Roman"/>
                <a:ea typeface="DejaVu Sans"/>
              </a:rPr>
              <a:t>THANK YOU</a:t>
            </a:r>
            <a:endParaRPr b="0" lang="en-US" sz="1800" spc="-1" strike="noStrike">
              <a:solidFill>
                <a:srgbClr val="000000"/>
              </a:solidFill>
              <a:uFill>
                <a:solidFill>
                  <a:srgbClr val="ffffff"/>
                </a:solidFill>
              </a:uFill>
              <a:latin typeface="Arial"/>
            </a:endParaRPr>
          </a:p>
        </p:txBody>
      </p:sp>
      <p:sp>
        <p:nvSpPr>
          <p:cNvPr id="128" name="CustomShape 2"/>
          <p:cNvSpPr/>
          <p:nvPr/>
        </p:nvSpPr>
        <p:spPr>
          <a:xfrm>
            <a:off x="1346040" y="1913040"/>
            <a:ext cx="9507240" cy="3706200"/>
          </a:xfrm>
          <a:prstGeom prst="rect">
            <a:avLst/>
          </a:prstGeom>
          <a:noFill/>
          <a:ln>
            <a:noFill/>
          </a:ln>
        </p:spPr>
        <p:style>
          <a:lnRef idx="0"/>
          <a:fillRef idx="0"/>
          <a:effectRef idx="0"/>
          <a:fontRef idx="minor"/>
        </p:style>
      </p:sp>
      <p:sp>
        <p:nvSpPr>
          <p:cNvPr id="129" name="CustomShape 3"/>
          <p:cNvSpPr/>
          <p:nvPr/>
        </p:nvSpPr>
        <p:spPr>
          <a:xfrm>
            <a:off x="10355400" y="865080"/>
            <a:ext cx="729720" cy="893520"/>
          </a:xfrm>
          <a:prstGeom prst="rect">
            <a:avLst/>
          </a:prstGeom>
          <a:noFill/>
          <a:ln>
            <a:noFill/>
          </a:ln>
        </p:spPr>
        <p:style>
          <a:lnRef idx="0"/>
          <a:fillRef idx="0"/>
          <a:effectRef idx="0"/>
          <a:fontRef idx="minor"/>
        </p:style>
        <p:txBody>
          <a:bodyPr lIns="90000" rIns="90000" tIns="122040" bIns="122040" anchor="b"/>
          <a:p>
            <a:pPr>
              <a:lnSpc>
                <a:spcPct val="100000"/>
              </a:lnSpc>
            </a:pPr>
            <a:fld id="{A82947C8-0A28-485A-94BC-EA3EA04E8591}" type="slidenum">
              <a:rPr b="0" lang="en-US" sz="1900" spc="-1" strike="noStrike">
                <a:solidFill>
                  <a:srgbClr val="000000"/>
                </a:solidFill>
                <a:uFill>
                  <a:solidFill>
                    <a:srgbClr val="ffffff"/>
                  </a:solidFill>
                </a:uFill>
                <a:latin typeface="Arial"/>
                <a:ea typeface="Arial"/>
              </a:rPr>
              <a:t>&lt;number&gt;</a:t>
            </a:fld>
            <a:endParaRPr b="0" lang="en-US" sz="1800" spc="-1" strike="noStrike">
              <a:solidFill>
                <a:srgbClr val="000000"/>
              </a:solidFill>
              <a:uFill>
                <a:solidFill>
                  <a:srgbClr val="ffffff"/>
                </a:solidFill>
              </a:uFill>
              <a:latin typeface="Arial"/>
            </a:endParaRPr>
          </a:p>
        </p:txBody>
      </p:sp>
      <p:sp>
        <p:nvSpPr>
          <p:cNvPr id="130" name="TextShape 4"/>
          <p:cNvSpPr txBox="1"/>
          <p:nvPr/>
        </p:nvSpPr>
        <p:spPr>
          <a:xfrm>
            <a:off x="1554480" y="2103120"/>
            <a:ext cx="7772400" cy="1279440"/>
          </a:xfrm>
          <a:prstGeom prst="rect">
            <a:avLst/>
          </a:prstGeom>
          <a:noFill/>
          <a:ln>
            <a:noFill/>
          </a:ln>
        </p:spPr>
        <p:txBody>
          <a:bodyPr lIns="90000" rIns="90000" tIns="45000" bIns="45000"/>
          <a:p>
            <a:r>
              <a:rPr b="0" lang="en-US" sz="2800" spc="-1" strike="noStrike">
                <a:solidFill>
                  <a:srgbClr val="000000"/>
                </a:solidFill>
                <a:uFill>
                  <a:solidFill>
                    <a:srgbClr val="ffffff"/>
                  </a:solidFill>
                </a:uFill>
                <a:latin typeface="Arial"/>
              </a:rPr>
              <a:t>Contact: </a:t>
            </a:r>
            <a:r>
              <a:rPr b="0" lang="en-US" sz="2800" spc="-1" strike="noStrike">
                <a:solidFill>
                  <a:srgbClr val="000000"/>
                </a:solidFill>
                <a:uFill>
                  <a:solidFill>
                    <a:srgbClr val="ffffff"/>
                  </a:solidFill>
                </a:uFill>
                <a:latin typeface="Arial"/>
                <a:hlinkClick r:id="rId1"/>
              </a:rPr>
              <a:t>mailto:aleksandar.berar@gmail.com</a:t>
            </a:r>
            <a:endParaRPr b="0" lang="en-US" sz="1800" spc="-1" strike="noStrike">
              <a:solidFill>
                <a:srgbClr val="000000"/>
              </a:solidFill>
              <a:uFill>
                <a:solidFill>
                  <a:srgbClr val="ffffff"/>
                </a:solidFill>
              </a:uFill>
              <a:latin typeface="Arial"/>
            </a:endParaRPr>
          </a:p>
          <a:p>
            <a:r>
              <a:rPr b="0" lang="en-US" sz="2800" spc="-1" strike="noStrike">
                <a:solidFill>
                  <a:srgbClr val="000000"/>
                </a:solidFill>
                <a:uFill>
                  <a:solidFill>
                    <a:srgbClr val="ffffff"/>
                  </a:solidFill>
                </a:uFill>
                <a:latin typeface="Arial"/>
              </a:rPr>
              <a:t>Source code: </a:t>
            </a:r>
            <a:r>
              <a:rPr b="0" lang="en-US" sz="2800" spc="-1" strike="noStrike">
                <a:solidFill>
                  <a:srgbClr val="000000"/>
                </a:solidFill>
                <a:uFill>
                  <a:solidFill>
                    <a:srgbClr val="ffffff"/>
                  </a:solidFill>
                </a:uFill>
                <a:latin typeface="Arial"/>
                <a:hlinkClick r:id="rId2"/>
              </a:rPr>
              <a:t>https://github.com/berar/Causality</a:t>
            </a:r>
            <a:endParaRPr b="0" lang="en-US" sz="1800" spc="-1" strike="noStrike">
              <a:solidFill>
                <a:srgbClr val="000000"/>
              </a:solidFill>
              <a:uFill>
                <a:solidFill>
                  <a:srgbClr val="ffffff"/>
                </a:solidFill>
              </a:uFill>
              <a:latin typeface="Arial"/>
            </a:endParaRPr>
          </a:p>
          <a:p>
            <a:r>
              <a:rPr b="0" lang="en-US" sz="2800" spc="-1" strike="noStrike">
                <a:solidFill>
                  <a:srgbClr val="000000"/>
                </a:solidFill>
                <a:uFill>
                  <a:solidFill>
                    <a:srgbClr val="ffffff"/>
                  </a:solidFill>
                </a:uFill>
                <a:latin typeface="Arial"/>
              </a:rPr>
              <a:t>Released under Apache 2.0 license</a:t>
            </a:r>
            <a:endParaRPr b="0" lang="en-US" sz="1800" spc="-1" strike="noStrike">
              <a:solidFill>
                <a:srgbClr val="000000"/>
              </a:solidFill>
              <a:uFill>
                <a:solidFill>
                  <a:srgbClr val="ffffff"/>
                </a:solidFill>
              </a:uFill>
              <a:latin typeface="Arial"/>
            </a:endParaRPr>
          </a:p>
        </p:txBody>
      </p:sp>
    </p:spTree>
  </p:cSld>
  <p:timing>
    <p:tnLst>
      <p:par>
        <p:cTn id="37" dur="indefinite" restart="never" nodeType="tmRoot">
          <p:childTnLst>
            <p:seq>
              <p:cTn id="38"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41</TotalTime>
  <Application>LibreOffice/5.2.4.2$Windows_x86 LibreOffice_project/3d5603e1122f0f102b62521720ab13a38a4e0eb0</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2017-05-29T09:57:48Z</dcterms:created>
  <dc:creator/>
  <dc:description/>
  <dc:language>en-US</dc:language>
  <cp:lastModifiedBy/>
  <dcterms:modified xsi:type="dcterms:W3CDTF">2017-10-05T08:43:51Z</dcterms:modified>
  <cp:revision>17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0</vt:bool>
  </property>
  <property fmtid="{D5CDD505-2E9C-101B-9397-08002B2CF9AE}" pid="10" name="ShareDoc">
    <vt:bool>0</vt:bool>
  </property>
  <property fmtid="{D5CDD505-2E9C-101B-9397-08002B2CF9AE}" pid="11" name="Slides">
    <vt:i4>39</vt:i4>
  </property>
</Properties>
</file>